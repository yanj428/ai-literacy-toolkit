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Playpen Sans" charset="1" panose="00000000000000000000"/>
      <p:regular r:id="rId17"/>
    </p:embeddedFont>
    <p:embeddedFont>
      <p:font typeface="Bobby Jones Soft" charset="1" panose="00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2.png" Type="http://schemas.openxmlformats.org/officeDocument/2006/relationships/image"/><Relationship Id="rId7"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93625" y="7334030"/>
            <a:ext cx="10387444" cy="1598945"/>
          </a:xfrm>
          <a:prstGeom prst="rect">
            <a:avLst/>
          </a:prstGeom>
        </p:spPr>
        <p:txBody>
          <a:bodyPr anchor="t" rtlCol="false" tIns="0" lIns="0" bIns="0" rIns="0">
            <a:spAutoFit/>
          </a:bodyPr>
          <a:lstStyle/>
          <a:p>
            <a:pPr algn="ctr">
              <a:lnSpc>
                <a:spcPts val="13194"/>
              </a:lnSpc>
            </a:pPr>
            <a:r>
              <a:rPr lang="en-US" sz="9424">
                <a:solidFill>
                  <a:srgbClr val="000000"/>
                </a:solidFill>
                <a:latin typeface="Playpen Sans"/>
                <a:ea typeface="Playpen Sans"/>
                <a:cs typeface="Playpen Sans"/>
                <a:sym typeface="Playpen Sans"/>
              </a:rPr>
              <a:t>Make Mistakes?</a:t>
            </a:r>
          </a:p>
        </p:txBody>
      </p:sp>
      <p:sp>
        <p:nvSpPr>
          <p:cNvPr name="Freeform 3" id="3"/>
          <p:cNvSpPr/>
          <p:nvPr/>
        </p:nvSpPr>
        <p:spPr>
          <a:xfrm flipH="false" flipV="false" rot="0">
            <a:off x="15208336" y="6819994"/>
            <a:ext cx="6159329" cy="5789769"/>
          </a:xfrm>
          <a:custGeom>
            <a:avLst/>
            <a:gdLst/>
            <a:ahLst/>
            <a:cxnLst/>
            <a:rect r="r" b="b" t="t" l="l"/>
            <a:pathLst>
              <a:path h="5789769" w="6159329">
                <a:moveTo>
                  <a:pt x="0" y="0"/>
                </a:moveTo>
                <a:lnTo>
                  <a:pt x="6159328" y="0"/>
                </a:lnTo>
                <a:lnTo>
                  <a:pt x="6159328" y="5789769"/>
                </a:lnTo>
                <a:lnTo>
                  <a:pt x="0" y="57897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715318" y="-4424683"/>
            <a:ext cx="6159329" cy="5789769"/>
          </a:xfrm>
          <a:custGeom>
            <a:avLst/>
            <a:gdLst/>
            <a:ahLst/>
            <a:cxnLst/>
            <a:rect r="r" b="b" t="t" l="l"/>
            <a:pathLst>
              <a:path h="5789769" w="6159329">
                <a:moveTo>
                  <a:pt x="0" y="0"/>
                </a:moveTo>
                <a:lnTo>
                  <a:pt x="6159329" y="0"/>
                </a:lnTo>
                <a:lnTo>
                  <a:pt x="6159329" y="5789769"/>
                </a:lnTo>
                <a:lnTo>
                  <a:pt x="0" y="57897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89644" y="8370781"/>
            <a:ext cx="6159329" cy="5789769"/>
          </a:xfrm>
          <a:custGeom>
            <a:avLst/>
            <a:gdLst/>
            <a:ahLst/>
            <a:cxnLst/>
            <a:rect r="r" b="b" t="t" l="l"/>
            <a:pathLst>
              <a:path h="5789769" w="6159329">
                <a:moveTo>
                  <a:pt x="0" y="0"/>
                </a:moveTo>
                <a:lnTo>
                  <a:pt x="6159328" y="0"/>
                </a:lnTo>
                <a:lnTo>
                  <a:pt x="6159328" y="5789769"/>
                </a:lnTo>
                <a:lnTo>
                  <a:pt x="0" y="57897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4179636" y="-3404535"/>
            <a:ext cx="6159329" cy="5789769"/>
          </a:xfrm>
          <a:custGeom>
            <a:avLst/>
            <a:gdLst/>
            <a:ahLst/>
            <a:cxnLst/>
            <a:rect r="r" b="b" t="t" l="l"/>
            <a:pathLst>
              <a:path h="5789769" w="6159329">
                <a:moveTo>
                  <a:pt x="0" y="0"/>
                </a:moveTo>
                <a:lnTo>
                  <a:pt x="6159328" y="0"/>
                </a:lnTo>
                <a:lnTo>
                  <a:pt x="6159328" y="5789768"/>
                </a:lnTo>
                <a:lnTo>
                  <a:pt x="0" y="57897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144000" y="757778"/>
            <a:ext cx="9064672" cy="9529222"/>
          </a:xfrm>
          <a:custGeom>
            <a:avLst/>
            <a:gdLst/>
            <a:ahLst/>
            <a:cxnLst/>
            <a:rect r="r" b="b" t="t" l="l"/>
            <a:pathLst>
              <a:path h="9529222" w="9064672">
                <a:moveTo>
                  <a:pt x="0" y="0"/>
                </a:moveTo>
                <a:lnTo>
                  <a:pt x="9064672" y="0"/>
                </a:lnTo>
                <a:lnTo>
                  <a:pt x="9064672" y="9529222"/>
                </a:lnTo>
                <a:lnTo>
                  <a:pt x="0" y="95292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393625" y="781050"/>
            <a:ext cx="7237966" cy="2287945"/>
          </a:xfrm>
          <a:prstGeom prst="rect">
            <a:avLst/>
          </a:prstGeom>
        </p:spPr>
        <p:txBody>
          <a:bodyPr anchor="t" rtlCol="false" tIns="0" lIns="0" bIns="0" rIns="0">
            <a:spAutoFit/>
          </a:bodyPr>
          <a:lstStyle/>
          <a:p>
            <a:pPr algn="ctr">
              <a:lnSpc>
                <a:spcPts val="18792"/>
              </a:lnSpc>
            </a:pPr>
            <a:r>
              <a:rPr lang="en-US" sz="13423">
                <a:solidFill>
                  <a:srgbClr val="000000"/>
                </a:solidFill>
                <a:latin typeface="Playpen Sans"/>
                <a:ea typeface="Playpen Sans"/>
                <a:cs typeface="Playpen Sans"/>
                <a:sym typeface="Playpen Sans"/>
              </a:rPr>
              <a:t>Can</a:t>
            </a:r>
          </a:p>
        </p:txBody>
      </p:sp>
      <p:grpSp>
        <p:nvGrpSpPr>
          <p:cNvPr name="Group 9" id="9"/>
          <p:cNvGrpSpPr/>
          <p:nvPr/>
        </p:nvGrpSpPr>
        <p:grpSpPr>
          <a:xfrm rot="-207962">
            <a:off x="1417641" y="2519211"/>
            <a:ext cx="7323534" cy="5483652"/>
            <a:chOff x="0" y="0"/>
            <a:chExt cx="9764712" cy="7311537"/>
          </a:xfrm>
        </p:grpSpPr>
        <p:grpSp>
          <p:nvGrpSpPr>
            <p:cNvPr name="Group 10" id="10"/>
            <p:cNvGrpSpPr/>
            <p:nvPr/>
          </p:nvGrpSpPr>
          <p:grpSpPr>
            <a:xfrm rot="0">
              <a:off x="0" y="667785"/>
              <a:ext cx="5478718" cy="5432327"/>
              <a:chOff x="0" y="0"/>
              <a:chExt cx="1269733" cy="1258982"/>
            </a:xfrm>
          </p:grpSpPr>
          <p:sp>
            <p:nvSpPr>
              <p:cNvPr name="Freeform 11" id="11"/>
              <p:cNvSpPr/>
              <p:nvPr/>
            </p:nvSpPr>
            <p:spPr>
              <a:xfrm flipH="false" flipV="false" rot="0">
                <a:off x="0" y="0"/>
                <a:ext cx="1269733" cy="1258982"/>
              </a:xfrm>
              <a:custGeom>
                <a:avLst/>
                <a:gdLst/>
                <a:ahLst/>
                <a:cxnLst/>
                <a:rect r="r" b="b" t="t" l="l"/>
                <a:pathLst>
                  <a:path h="1258982" w="1269733">
                    <a:moveTo>
                      <a:pt x="81899" y="0"/>
                    </a:moveTo>
                    <a:lnTo>
                      <a:pt x="1187834" y="0"/>
                    </a:lnTo>
                    <a:cubicBezTo>
                      <a:pt x="1209555" y="0"/>
                      <a:pt x="1230386" y="8629"/>
                      <a:pt x="1245745" y="23988"/>
                    </a:cubicBezTo>
                    <a:cubicBezTo>
                      <a:pt x="1261105" y="39347"/>
                      <a:pt x="1269733" y="60178"/>
                      <a:pt x="1269733" y="81899"/>
                    </a:cubicBezTo>
                    <a:lnTo>
                      <a:pt x="1269733" y="1177083"/>
                    </a:lnTo>
                    <a:cubicBezTo>
                      <a:pt x="1269733" y="1222314"/>
                      <a:pt x="1233066" y="1258982"/>
                      <a:pt x="1187834" y="1258982"/>
                    </a:cubicBezTo>
                    <a:lnTo>
                      <a:pt x="81899" y="1258982"/>
                    </a:lnTo>
                    <a:cubicBezTo>
                      <a:pt x="36668" y="1258982"/>
                      <a:pt x="0" y="1222314"/>
                      <a:pt x="0" y="1177083"/>
                    </a:cubicBezTo>
                    <a:lnTo>
                      <a:pt x="0" y="81899"/>
                    </a:lnTo>
                    <a:cubicBezTo>
                      <a:pt x="0" y="36668"/>
                      <a:pt x="36668" y="0"/>
                      <a:pt x="81899" y="0"/>
                    </a:cubicBezTo>
                    <a:close/>
                  </a:path>
                </a:pathLst>
              </a:custGeom>
              <a:solidFill>
                <a:srgbClr val="7E94B7"/>
              </a:solidFill>
              <a:ln w="104775" cap="rnd">
                <a:solidFill>
                  <a:srgbClr val="000000"/>
                </a:solidFill>
                <a:prstDash val="solid"/>
                <a:round/>
              </a:ln>
            </p:spPr>
          </p:sp>
          <p:sp>
            <p:nvSpPr>
              <p:cNvPr name="TextBox 12" id="12"/>
              <p:cNvSpPr txBox="true"/>
              <p:nvPr/>
            </p:nvSpPr>
            <p:spPr>
              <a:xfrm>
                <a:off x="0" y="-38100"/>
                <a:ext cx="1269733" cy="1297082"/>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106562" y="-733425"/>
              <a:ext cx="5265594" cy="7653804"/>
            </a:xfrm>
            <a:prstGeom prst="rect">
              <a:avLst/>
            </a:prstGeom>
          </p:spPr>
          <p:txBody>
            <a:bodyPr anchor="t" rtlCol="false" tIns="0" lIns="0" bIns="0" rIns="0">
              <a:spAutoFit/>
            </a:bodyPr>
            <a:lstStyle/>
            <a:p>
              <a:pPr algn="ctr">
                <a:lnSpc>
                  <a:spcPts val="47729"/>
                </a:lnSpc>
              </a:pPr>
              <a:r>
                <a:rPr lang="en-US" sz="34092">
                  <a:solidFill>
                    <a:srgbClr val="ED9D9D"/>
                  </a:solidFill>
                  <a:latin typeface="Bobby Jones Soft"/>
                  <a:ea typeface="Bobby Jones Soft"/>
                  <a:cs typeface="Bobby Jones Soft"/>
                  <a:sym typeface="Bobby Jones Soft"/>
                </a:rPr>
                <a:t>AI</a:t>
              </a:r>
            </a:p>
          </p:txBody>
        </p:sp>
        <p:grpSp>
          <p:nvGrpSpPr>
            <p:cNvPr name="Group 14" id="14"/>
            <p:cNvGrpSpPr/>
            <p:nvPr/>
          </p:nvGrpSpPr>
          <p:grpSpPr>
            <a:xfrm rot="632299">
              <a:off x="5399411" y="968624"/>
              <a:ext cx="3901437" cy="5432327"/>
              <a:chOff x="0" y="0"/>
              <a:chExt cx="904187" cy="1258982"/>
            </a:xfrm>
          </p:grpSpPr>
          <p:sp>
            <p:nvSpPr>
              <p:cNvPr name="Freeform 15" id="15"/>
              <p:cNvSpPr/>
              <p:nvPr/>
            </p:nvSpPr>
            <p:spPr>
              <a:xfrm flipH="false" flipV="false" rot="0">
                <a:off x="0" y="0"/>
                <a:ext cx="904187" cy="1258982"/>
              </a:xfrm>
              <a:custGeom>
                <a:avLst/>
                <a:gdLst/>
                <a:ahLst/>
                <a:cxnLst/>
                <a:rect r="r" b="b" t="t" l="l"/>
                <a:pathLst>
                  <a:path h="1258982" w="904187">
                    <a:moveTo>
                      <a:pt x="115010" y="0"/>
                    </a:moveTo>
                    <a:lnTo>
                      <a:pt x="789177" y="0"/>
                    </a:lnTo>
                    <a:cubicBezTo>
                      <a:pt x="852695" y="0"/>
                      <a:pt x="904187" y="51492"/>
                      <a:pt x="904187" y="115010"/>
                    </a:cubicBezTo>
                    <a:lnTo>
                      <a:pt x="904187" y="1143972"/>
                    </a:lnTo>
                    <a:cubicBezTo>
                      <a:pt x="904187" y="1174475"/>
                      <a:pt x="892070" y="1203728"/>
                      <a:pt x="870501" y="1225296"/>
                    </a:cubicBezTo>
                    <a:cubicBezTo>
                      <a:pt x="848933" y="1246865"/>
                      <a:pt x="819679" y="1258982"/>
                      <a:pt x="789177" y="1258982"/>
                    </a:cubicBezTo>
                    <a:lnTo>
                      <a:pt x="115010" y="1258982"/>
                    </a:lnTo>
                    <a:cubicBezTo>
                      <a:pt x="84507" y="1258982"/>
                      <a:pt x="55254" y="1246865"/>
                      <a:pt x="33686" y="1225296"/>
                    </a:cubicBezTo>
                    <a:cubicBezTo>
                      <a:pt x="12117" y="1203728"/>
                      <a:pt x="0" y="1174475"/>
                      <a:pt x="0" y="1143972"/>
                    </a:cubicBezTo>
                    <a:lnTo>
                      <a:pt x="0" y="115010"/>
                    </a:lnTo>
                    <a:cubicBezTo>
                      <a:pt x="0" y="51492"/>
                      <a:pt x="51492" y="0"/>
                      <a:pt x="115010" y="0"/>
                    </a:cubicBezTo>
                    <a:close/>
                  </a:path>
                </a:pathLst>
              </a:custGeom>
              <a:solidFill>
                <a:srgbClr val="ED9D9D"/>
              </a:solidFill>
              <a:ln w="104775" cap="rnd">
                <a:solidFill>
                  <a:srgbClr val="000000"/>
                </a:solidFill>
                <a:prstDash val="solid"/>
                <a:round/>
              </a:ln>
            </p:spPr>
          </p:sp>
          <p:sp>
            <p:nvSpPr>
              <p:cNvPr name="TextBox 16" id="16"/>
              <p:cNvSpPr txBox="true"/>
              <p:nvPr/>
            </p:nvSpPr>
            <p:spPr>
              <a:xfrm>
                <a:off x="0" y="-38100"/>
                <a:ext cx="904187" cy="1297082"/>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632299">
              <a:off x="6187395" y="-502641"/>
              <a:ext cx="2459606" cy="7653804"/>
            </a:xfrm>
            <a:prstGeom prst="rect">
              <a:avLst/>
            </a:prstGeom>
          </p:spPr>
          <p:txBody>
            <a:bodyPr anchor="t" rtlCol="false" tIns="0" lIns="0" bIns="0" rIns="0">
              <a:spAutoFit/>
            </a:bodyPr>
            <a:lstStyle/>
            <a:p>
              <a:pPr algn="ctr">
                <a:lnSpc>
                  <a:spcPts val="47729"/>
                </a:lnSpc>
              </a:pPr>
              <a:r>
                <a:rPr lang="en-US" sz="34092">
                  <a:solidFill>
                    <a:srgbClr val="FFFFFF"/>
                  </a:solidFill>
                  <a:latin typeface="Bobby Jones Soft"/>
                  <a:ea typeface="Bobby Jones Soft"/>
                  <a:cs typeface="Bobby Jones Soft"/>
                  <a:sym typeface="Bobby Jones Soft"/>
                </a:rPr>
                <a:t>?</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451779" y="-3476088"/>
            <a:ext cx="27956790" cy="17694354"/>
            <a:chOff x="0" y="0"/>
            <a:chExt cx="37275720" cy="23592472"/>
          </a:xfrm>
        </p:grpSpPr>
        <p:sp>
          <p:nvSpPr>
            <p:cNvPr name="Freeform 3" id="3"/>
            <p:cNvSpPr/>
            <p:nvPr/>
          </p:nvSpPr>
          <p:spPr>
            <a:xfrm flipH="false" flipV="false" rot="-3078662">
              <a:off x="27589929" y="1763020"/>
              <a:ext cx="8212438" cy="7719692"/>
            </a:xfrm>
            <a:custGeom>
              <a:avLst/>
              <a:gdLst/>
              <a:ahLst/>
              <a:cxnLst/>
              <a:rect r="r" b="b" t="t" l="l"/>
              <a:pathLst>
                <a:path h="7719692" w="8212438">
                  <a:moveTo>
                    <a:pt x="0" y="0"/>
                  </a:moveTo>
                  <a:lnTo>
                    <a:pt x="8212438" y="0"/>
                  </a:lnTo>
                  <a:lnTo>
                    <a:pt x="8212438" y="7719691"/>
                  </a:lnTo>
                  <a:lnTo>
                    <a:pt x="0" y="77196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644776">
              <a:off x="1315993" y="1457088"/>
              <a:ext cx="8212438" cy="7719692"/>
            </a:xfrm>
            <a:custGeom>
              <a:avLst/>
              <a:gdLst/>
              <a:ahLst/>
              <a:cxnLst/>
              <a:rect r="r" b="b" t="t" l="l"/>
              <a:pathLst>
                <a:path h="7719692" w="8212438">
                  <a:moveTo>
                    <a:pt x="0" y="0"/>
                  </a:moveTo>
                  <a:lnTo>
                    <a:pt x="8212438" y="0"/>
                  </a:lnTo>
                  <a:lnTo>
                    <a:pt x="8212438" y="7719692"/>
                  </a:lnTo>
                  <a:lnTo>
                    <a:pt x="0" y="77196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3201086" y="15872780"/>
              <a:ext cx="8212438" cy="7719692"/>
            </a:xfrm>
            <a:custGeom>
              <a:avLst/>
              <a:gdLst/>
              <a:ahLst/>
              <a:cxnLst/>
              <a:rect r="r" b="b" t="t" l="l"/>
              <a:pathLst>
                <a:path h="7719692" w="8212438">
                  <a:moveTo>
                    <a:pt x="0" y="0"/>
                  </a:moveTo>
                  <a:lnTo>
                    <a:pt x="8212439" y="0"/>
                  </a:lnTo>
                  <a:lnTo>
                    <a:pt x="8212439" y="7719692"/>
                  </a:lnTo>
                  <a:lnTo>
                    <a:pt x="0" y="77196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4769298">
              <a:off x="27237115" y="13928483"/>
              <a:ext cx="8212438" cy="7719692"/>
            </a:xfrm>
            <a:custGeom>
              <a:avLst/>
              <a:gdLst/>
              <a:ahLst/>
              <a:cxnLst/>
              <a:rect r="r" b="b" t="t" l="l"/>
              <a:pathLst>
                <a:path h="7719692" w="8212438">
                  <a:moveTo>
                    <a:pt x="0" y="0"/>
                  </a:moveTo>
                  <a:lnTo>
                    <a:pt x="8212438" y="0"/>
                  </a:lnTo>
                  <a:lnTo>
                    <a:pt x="8212438" y="7719691"/>
                  </a:lnTo>
                  <a:lnTo>
                    <a:pt x="0" y="77196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8424323" y="9738679"/>
              <a:ext cx="19406765" cy="5163012"/>
              <a:chOff x="0" y="0"/>
              <a:chExt cx="4497661" cy="1196566"/>
            </a:xfrm>
          </p:grpSpPr>
          <p:sp>
            <p:nvSpPr>
              <p:cNvPr name="Freeform 8" id="8"/>
              <p:cNvSpPr/>
              <p:nvPr/>
            </p:nvSpPr>
            <p:spPr>
              <a:xfrm flipH="false" flipV="false" rot="0">
                <a:off x="0" y="0"/>
                <a:ext cx="4497661" cy="1196566"/>
              </a:xfrm>
              <a:custGeom>
                <a:avLst/>
                <a:gdLst/>
                <a:ahLst/>
                <a:cxnLst/>
                <a:rect r="r" b="b" t="t" l="l"/>
                <a:pathLst>
                  <a:path h="1196566" w="4497661">
                    <a:moveTo>
                      <a:pt x="27127" y="0"/>
                    </a:moveTo>
                    <a:lnTo>
                      <a:pt x="4470534" y="0"/>
                    </a:lnTo>
                    <a:cubicBezTo>
                      <a:pt x="4485515" y="0"/>
                      <a:pt x="4497661" y="12145"/>
                      <a:pt x="4497661" y="27127"/>
                    </a:cubicBezTo>
                    <a:lnTo>
                      <a:pt x="4497661" y="1169439"/>
                    </a:lnTo>
                    <a:cubicBezTo>
                      <a:pt x="4497661" y="1176633"/>
                      <a:pt x="4494803" y="1183533"/>
                      <a:pt x="4489715" y="1188621"/>
                    </a:cubicBezTo>
                    <a:cubicBezTo>
                      <a:pt x="4484628" y="1193708"/>
                      <a:pt x="4477728" y="1196566"/>
                      <a:pt x="4470534" y="1196566"/>
                    </a:cubicBezTo>
                    <a:lnTo>
                      <a:pt x="27127" y="1196566"/>
                    </a:lnTo>
                    <a:cubicBezTo>
                      <a:pt x="19933" y="1196566"/>
                      <a:pt x="13033" y="1193708"/>
                      <a:pt x="7945" y="1188621"/>
                    </a:cubicBezTo>
                    <a:cubicBezTo>
                      <a:pt x="2858" y="1183533"/>
                      <a:pt x="0" y="1176633"/>
                      <a:pt x="0" y="1169439"/>
                    </a:cubicBezTo>
                    <a:lnTo>
                      <a:pt x="0" y="27127"/>
                    </a:lnTo>
                    <a:cubicBezTo>
                      <a:pt x="0" y="19933"/>
                      <a:pt x="2858" y="13033"/>
                      <a:pt x="7945" y="7945"/>
                    </a:cubicBezTo>
                    <a:cubicBezTo>
                      <a:pt x="13033" y="2858"/>
                      <a:pt x="19933" y="0"/>
                      <a:pt x="27127" y="0"/>
                    </a:cubicBezTo>
                    <a:close/>
                  </a:path>
                </a:pathLst>
              </a:custGeom>
              <a:solidFill>
                <a:srgbClr val="7E94B7"/>
              </a:solidFill>
              <a:ln w="66675" cap="rnd">
                <a:solidFill>
                  <a:srgbClr val="000000"/>
                </a:solidFill>
                <a:prstDash val="solid"/>
                <a:round/>
              </a:ln>
            </p:spPr>
          </p:sp>
          <p:sp>
            <p:nvSpPr>
              <p:cNvPr name="TextBox 9" id="9"/>
              <p:cNvSpPr txBox="true"/>
              <p:nvPr/>
            </p:nvSpPr>
            <p:spPr>
              <a:xfrm>
                <a:off x="0" y="-38100"/>
                <a:ext cx="4497661" cy="1234666"/>
              </a:xfrm>
              <a:prstGeom prst="rect">
                <a:avLst/>
              </a:prstGeom>
            </p:spPr>
            <p:txBody>
              <a:bodyPr anchor="ctr" rtlCol="false" tIns="43298" lIns="43298" bIns="43298" rIns="43298"/>
              <a:lstStyle/>
              <a:p>
                <a:pPr algn="ctr">
                  <a:lnSpc>
                    <a:spcPts val="2659"/>
                  </a:lnSpc>
                  <a:spcBef>
                    <a:spcPct val="0"/>
                  </a:spcBef>
                </a:pPr>
              </a:p>
            </p:txBody>
          </p:sp>
        </p:grpSp>
        <p:grpSp>
          <p:nvGrpSpPr>
            <p:cNvPr name="Group 10" id="10"/>
            <p:cNvGrpSpPr/>
            <p:nvPr/>
          </p:nvGrpSpPr>
          <p:grpSpPr>
            <a:xfrm rot="0">
              <a:off x="9673322" y="8083877"/>
              <a:ext cx="16908768" cy="3309604"/>
              <a:chOff x="0" y="0"/>
              <a:chExt cx="3918731" cy="767025"/>
            </a:xfrm>
          </p:grpSpPr>
          <p:sp>
            <p:nvSpPr>
              <p:cNvPr name="Freeform 11" id="11"/>
              <p:cNvSpPr/>
              <p:nvPr/>
            </p:nvSpPr>
            <p:spPr>
              <a:xfrm flipH="false" flipV="false" rot="0">
                <a:off x="0" y="0"/>
                <a:ext cx="3918731" cy="767025"/>
              </a:xfrm>
              <a:custGeom>
                <a:avLst/>
                <a:gdLst/>
                <a:ahLst/>
                <a:cxnLst/>
                <a:rect r="r" b="b" t="t" l="l"/>
                <a:pathLst>
                  <a:path h="767025" w="3918731">
                    <a:moveTo>
                      <a:pt x="31135" y="0"/>
                    </a:moveTo>
                    <a:lnTo>
                      <a:pt x="3887596" y="0"/>
                    </a:lnTo>
                    <a:cubicBezTo>
                      <a:pt x="3895854" y="0"/>
                      <a:pt x="3903773" y="3280"/>
                      <a:pt x="3909612" y="9119"/>
                    </a:cubicBezTo>
                    <a:cubicBezTo>
                      <a:pt x="3915451" y="14958"/>
                      <a:pt x="3918731" y="22877"/>
                      <a:pt x="3918731" y="31135"/>
                    </a:cubicBezTo>
                    <a:lnTo>
                      <a:pt x="3918731" y="735890"/>
                    </a:lnTo>
                    <a:cubicBezTo>
                      <a:pt x="3918731" y="753086"/>
                      <a:pt x="3904792" y="767025"/>
                      <a:pt x="3887596" y="767025"/>
                    </a:cubicBezTo>
                    <a:lnTo>
                      <a:pt x="31135" y="767025"/>
                    </a:lnTo>
                    <a:cubicBezTo>
                      <a:pt x="13940" y="767025"/>
                      <a:pt x="0" y="753086"/>
                      <a:pt x="0" y="735890"/>
                    </a:cubicBezTo>
                    <a:lnTo>
                      <a:pt x="0" y="31135"/>
                    </a:lnTo>
                    <a:cubicBezTo>
                      <a:pt x="0" y="13940"/>
                      <a:pt x="13940" y="0"/>
                      <a:pt x="31135" y="0"/>
                    </a:cubicBezTo>
                    <a:close/>
                  </a:path>
                </a:pathLst>
              </a:custGeom>
              <a:solidFill>
                <a:srgbClr val="ED9D9D"/>
              </a:solidFill>
              <a:ln w="66675" cap="rnd">
                <a:solidFill>
                  <a:srgbClr val="000000"/>
                </a:solidFill>
                <a:prstDash val="solid"/>
                <a:round/>
              </a:ln>
            </p:spPr>
          </p:sp>
          <p:sp>
            <p:nvSpPr>
              <p:cNvPr name="TextBox 12" id="12"/>
              <p:cNvSpPr txBox="true"/>
              <p:nvPr/>
            </p:nvSpPr>
            <p:spPr>
              <a:xfrm>
                <a:off x="0" y="-38100"/>
                <a:ext cx="3918731" cy="805125"/>
              </a:xfrm>
              <a:prstGeom prst="rect">
                <a:avLst/>
              </a:prstGeom>
            </p:spPr>
            <p:txBody>
              <a:bodyPr anchor="ctr" rtlCol="false" tIns="43298" lIns="43298" bIns="43298" rIns="43298"/>
              <a:lstStyle/>
              <a:p>
                <a:pPr algn="ctr">
                  <a:lnSpc>
                    <a:spcPts val="2659"/>
                  </a:lnSpc>
                  <a:spcBef>
                    <a:spcPct val="0"/>
                  </a:spcBef>
                </a:pPr>
              </a:p>
            </p:txBody>
          </p:sp>
        </p:grpSp>
        <p:sp>
          <p:nvSpPr>
            <p:cNvPr name="TextBox 13" id="13"/>
            <p:cNvSpPr txBox="true"/>
            <p:nvPr/>
          </p:nvSpPr>
          <p:spPr>
            <a:xfrm rot="0">
              <a:off x="8671489" y="12215410"/>
              <a:ext cx="19159599" cy="1235854"/>
            </a:xfrm>
            <a:prstGeom prst="rect">
              <a:avLst/>
            </a:prstGeom>
          </p:spPr>
          <p:txBody>
            <a:bodyPr anchor="t" rtlCol="false" tIns="0" lIns="0" bIns="0" rIns="0">
              <a:spAutoFit/>
            </a:bodyPr>
            <a:lstStyle/>
            <a:p>
              <a:pPr algn="ctr">
                <a:lnSpc>
                  <a:spcPts val="7839"/>
                </a:lnSpc>
              </a:pPr>
              <a:r>
                <a:rPr lang="en-US" sz="5599">
                  <a:solidFill>
                    <a:srgbClr val="000000"/>
                  </a:solidFill>
                  <a:latin typeface="Playpen Sans"/>
                  <a:ea typeface="Playpen Sans"/>
                  <a:cs typeface="Playpen Sans"/>
                  <a:sym typeface="Playpen Sans"/>
                </a:rPr>
                <a:t>Are computers always right?</a:t>
              </a:r>
            </a:p>
          </p:txBody>
        </p:sp>
        <p:sp>
          <p:nvSpPr>
            <p:cNvPr name="TextBox 14" id="14"/>
            <p:cNvSpPr txBox="true"/>
            <p:nvPr/>
          </p:nvSpPr>
          <p:spPr>
            <a:xfrm rot="0">
              <a:off x="9268620" y="8321637"/>
              <a:ext cx="17718170" cy="2705031"/>
            </a:xfrm>
            <a:prstGeom prst="rect">
              <a:avLst/>
            </a:prstGeom>
          </p:spPr>
          <p:txBody>
            <a:bodyPr anchor="t" rtlCol="false" tIns="0" lIns="0" bIns="0" rIns="0">
              <a:spAutoFit/>
            </a:bodyPr>
            <a:lstStyle/>
            <a:p>
              <a:pPr algn="ctr">
                <a:lnSpc>
                  <a:spcPts val="16800"/>
                </a:lnSpc>
              </a:pPr>
              <a:r>
                <a:rPr lang="en-US" sz="12000">
                  <a:solidFill>
                    <a:srgbClr val="FFFFFF"/>
                  </a:solidFill>
                  <a:latin typeface="Bobby Jones Soft"/>
                  <a:ea typeface="Bobby Jones Soft"/>
                  <a:cs typeface="Bobby Jones Soft"/>
                  <a:sym typeface="Bobby Jones Soft"/>
                </a:rPr>
                <a:t>Warm-up question</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078662">
            <a:off x="16240667" y="-2153823"/>
            <a:ext cx="6159329" cy="5789769"/>
          </a:xfrm>
          <a:custGeom>
            <a:avLst/>
            <a:gdLst/>
            <a:ahLst/>
            <a:cxnLst/>
            <a:rect r="r" b="b" t="t" l="l"/>
            <a:pathLst>
              <a:path h="5789769" w="6159329">
                <a:moveTo>
                  <a:pt x="0" y="0"/>
                </a:moveTo>
                <a:lnTo>
                  <a:pt x="6159329" y="0"/>
                </a:lnTo>
                <a:lnTo>
                  <a:pt x="6159329" y="5789769"/>
                </a:lnTo>
                <a:lnTo>
                  <a:pt x="0" y="57897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859461">
            <a:off x="-4153949" y="-1866184"/>
            <a:ext cx="6159329" cy="5789769"/>
          </a:xfrm>
          <a:custGeom>
            <a:avLst/>
            <a:gdLst/>
            <a:ahLst/>
            <a:cxnLst/>
            <a:rect r="r" b="b" t="t" l="l"/>
            <a:pathLst>
              <a:path h="5789769" w="6159329">
                <a:moveTo>
                  <a:pt x="0" y="0"/>
                </a:moveTo>
                <a:lnTo>
                  <a:pt x="6159329" y="0"/>
                </a:lnTo>
                <a:lnTo>
                  <a:pt x="6159329" y="5789768"/>
                </a:lnTo>
                <a:lnTo>
                  <a:pt x="0" y="57897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050964" y="8428497"/>
            <a:ext cx="6159329" cy="5789769"/>
          </a:xfrm>
          <a:custGeom>
            <a:avLst/>
            <a:gdLst/>
            <a:ahLst/>
            <a:cxnLst/>
            <a:rect r="r" b="b" t="t" l="l"/>
            <a:pathLst>
              <a:path h="5789769" w="6159329">
                <a:moveTo>
                  <a:pt x="0" y="0"/>
                </a:moveTo>
                <a:lnTo>
                  <a:pt x="6159328" y="0"/>
                </a:lnTo>
                <a:lnTo>
                  <a:pt x="6159328" y="5789769"/>
                </a:lnTo>
                <a:lnTo>
                  <a:pt x="0" y="57897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4769298">
            <a:off x="16404684" y="7153971"/>
            <a:ext cx="6159329" cy="5789769"/>
          </a:xfrm>
          <a:custGeom>
            <a:avLst/>
            <a:gdLst/>
            <a:ahLst/>
            <a:cxnLst/>
            <a:rect r="r" b="b" t="t" l="l"/>
            <a:pathLst>
              <a:path h="5789769" w="6159329">
                <a:moveTo>
                  <a:pt x="0" y="0"/>
                </a:moveTo>
                <a:lnTo>
                  <a:pt x="6159329" y="0"/>
                </a:lnTo>
                <a:lnTo>
                  <a:pt x="6159329" y="5789769"/>
                </a:lnTo>
                <a:lnTo>
                  <a:pt x="0" y="57897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4910753" y="363682"/>
            <a:ext cx="8466495" cy="2673492"/>
            <a:chOff x="0" y="0"/>
            <a:chExt cx="2616230" cy="826135"/>
          </a:xfrm>
        </p:grpSpPr>
        <p:sp>
          <p:nvSpPr>
            <p:cNvPr name="Freeform 7" id="7"/>
            <p:cNvSpPr/>
            <p:nvPr/>
          </p:nvSpPr>
          <p:spPr>
            <a:xfrm flipH="false" flipV="false" rot="0">
              <a:off x="0" y="0"/>
              <a:ext cx="2616230" cy="826135"/>
            </a:xfrm>
            <a:custGeom>
              <a:avLst/>
              <a:gdLst/>
              <a:ahLst/>
              <a:cxnLst/>
              <a:rect r="r" b="b" t="t" l="l"/>
              <a:pathLst>
                <a:path h="826135" w="2616230">
                  <a:moveTo>
                    <a:pt x="46635" y="0"/>
                  </a:moveTo>
                  <a:lnTo>
                    <a:pt x="2569595" y="0"/>
                  </a:lnTo>
                  <a:cubicBezTo>
                    <a:pt x="2595351" y="0"/>
                    <a:pt x="2616230" y="20879"/>
                    <a:pt x="2616230" y="46635"/>
                  </a:cubicBezTo>
                  <a:lnTo>
                    <a:pt x="2616230" y="779500"/>
                  </a:lnTo>
                  <a:cubicBezTo>
                    <a:pt x="2616230" y="805256"/>
                    <a:pt x="2595351" y="826135"/>
                    <a:pt x="2569595" y="826135"/>
                  </a:cubicBezTo>
                  <a:lnTo>
                    <a:pt x="46635" y="826135"/>
                  </a:lnTo>
                  <a:cubicBezTo>
                    <a:pt x="20879" y="826135"/>
                    <a:pt x="0" y="805256"/>
                    <a:pt x="0" y="779500"/>
                  </a:cubicBezTo>
                  <a:lnTo>
                    <a:pt x="0" y="46635"/>
                  </a:lnTo>
                  <a:cubicBezTo>
                    <a:pt x="0" y="20879"/>
                    <a:pt x="20879" y="0"/>
                    <a:pt x="46635" y="0"/>
                  </a:cubicBezTo>
                  <a:close/>
                </a:path>
              </a:pathLst>
            </a:custGeom>
            <a:solidFill>
              <a:srgbClr val="ED9D9D"/>
            </a:solidFill>
            <a:ln w="66675" cap="rnd">
              <a:solidFill>
                <a:srgbClr val="000000"/>
              </a:solidFill>
              <a:prstDash val="solid"/>
              <a:round/>
            </a:ln>
          </p:spPr>
        </p:sp>
        <p:sp>
          <p:nvSpPr>
            <p:cNvPr name="TextBox 8" id="8"/>
            <p:cNvSpPr txBox="true"/>
            <p:nvPr/>
          </p:nvSpPr>
          <p:spPr>
            <a:xfrm>
              <a:off x="0" y="-38100"/>
              <a:ext cx="2616230" cy="864235"/>
            </a:xfrm>
            <a:prstGeom prst="rect">
              <a:avLst/>
            </a:prstGeom>
          </p:spPr>
          <p:txBody>
            <a:bodyPr anchor="ctr" rtlCol="false" tIns="43298" lIns="43298" bIns="43298" rIns="43298"/>
            <a:lstStyle/>
            <a:p>
              <a:pPr algn="ctr">
                <a:lnSpc>
                  <a:spcPts val="2659"/>
                </a:lnSpc>
                <a:spcBef>
                  <a:spcPct val="0"/>
                </a:spcBef>
              </a:pPr>
            </a:p>
          </p:txBody>
        </p:sp>
      </p:grpSp>
      <p:grpSp>
        <p:nvGrpSpPr>
          <p:cNvPr name="Group 9" id="9"/>
          <p:cNvGrpSpPr/>
          <p:nvPr/>
        </p:nvGrpSpPr>
        <p:grpSpPr>
          <a:xfrm rot="0">
            <a:off x="893021" y="3438973"/>
            <a:ext cx="8128360" cy="5990806"/>
            <a:chOff x="0" y="0"/>
            <a:chExt cx="1996179" cy="1471234"/>
          </a:xfrm>
        </p:grpSpPr>
        <p:sp>
          <p:nvSpPr>
            <p:cNvPr name="Freeform 10" id="10"/>
            <p:cNvSpPr/>
            <p:nvPr/>
          </p:nvSpPr>
          <p:spPr>
            <a:xfrm flipH="false" flipV="false" rot="0">
              <a:off x="0" y="0"/>
              <a:ext cx="1996179" cy="1471234"/>
            </a:xfrm>
            <a:custGeom>
              <a:avLst/>
              <a:gdLst/>
              <a:ahLst/>
              <a:cxnLst/>
              <a:rect r="r" b="b" t="t" l="l"/>
              <a:pathLst>
                <a:path h="1471234" w="1996179">
                  <a:moveTo>
                    <a:pt x="48575" y="0"/>
                  </a:moveTo>
                  <a:lnTo>
                    <a:pt x="1947604" y="0"/>
                  </a:lnTo>
                  <a:cubicBezTo>
                    <a:pt x="1974431" y="0"/>
                    <a:pt x="1996179" y="21748"/>
                    <a:pt x="1996179" y="48575"/>
                  </a:cubicBezTo>
                  <a:lnTo>
                    <a:pt x="1996179" y="1422659"/>
                  </a:lnTo>
                  <a:cubicBezTo>
                    <a:pt x="1996179" y="1449486"/>
                    <a:pt x="1974431" y="1471234"/>
                    <a:pt x="1947604" y="1471234"/>
                  </a:cubicBezTo>
                  <a:lnTo>
                    <a:pt x="48575" y="1471234"/>
                  </a:lnTo>
                  <a:cubicBezTo>
                    <a:pt x="21748" y="1471234"/>
                    <a:pt x="0" y="1449486"/>
                    <a:pt x="0" y="1422659"/>
                  </a:cubicBezTo>
                  <a:lnTo>
                    <a:pt x="0" y="48575"/>
                  </a:lnTo>
                  <a:cubicBezTo>
                    <a:pt x="0" y="21748"/>
                    <a:pt x="21748" y="0"/>
                    <a:pt x="48575" y="0"/>
                  </a:cubicBezTo>
                  <a:close/>
                </a:path>
              </a:pathLst>
            </a:custGeom>
            <a:solidFill>
              <a:srgbClr val="7E94B7"/>
            </a:solidFill>
            <a:ln w="66675" cap="rnd">
              <a:solidFill>
                <a:srgbClr val="000000"/>
              </a:solidFill>
              <a:prstDash val="solid"/>
              <a:round/>
            </a:ln>
          </p:spPr>
        </p:sp>
        <p:sp>
          <p:nvSpPr>
            <p:cNvPr name="TextBox 11" id="11"/>
            <p:cNvSpPr txBox="true"/>
            <p:nvPr/>
          </p:nvSpPr>
          <p:spPr>
            <a:xfrm>
              <a:off x="0" y="-38100"/>
              <a:ext cx="1996179" cy="1509334"/>
            </a:xfrm>
            <a:prstGeom prst="rect">
              <a:avLst/>
            </a:prstGeom>
          </p:spPr>
          <p:txBody>
            <a:bodyPr anchor="ctr" rtlCol="false" tIns="43298" lIns="43298" bIns="43298" rIns="43298"/>
            <a:lstStyle/>
            <a:p>
              <a:pPr algn="ctr">
                <a:lnSpc>
                  <a:spcPts val="2659"/>
                </a:lnSpc>
                <a:spcBef>
                  <a:spcPct val="0"/>
                </a:spcBef>
              </a:pPr>
            </a:p>
          </p:txBody>
        </p:sp>
      </p:grpSp>
      <p:sp>
        <p:nvSpPr>
          <p:cNvPr name="TextBox 12" id="12"/>
          <p:cNvSpPr txBox="true"/>
          <p:nvPr/>
        </p:nvSpPr>
        <p:spPr>
          <a:xfrm rot="0">
            <a:off x="1535357" y="3939967"/>
            <a:ext cx="7375046" cy="4660009"/>
          </a:xfrm>
          <a:prstGeom prst="rect">
            <a:avLst/>
          </a:prstGeom>
        </p:spPr>
        <p:txBody>
          <a:bodyPr anchor="t" rtlCol="false" tIns="0" lIns="0" bIns="0" rIns="0">
            <a:spAutoFit/>
          </a:bodyPr>
          <a:lstStyle/>
          <a:p>
            <a:pPr algn="l">
              <a:lnSpc>
                <a:spcPts val="6165"/>
              </a:lnSpc>
            </a:pPr>
            <a:r>
              <a:rPr lang="en-US" sz="4403">
                <a:solidFill>
                  <a:srgbClr val="000000"/>
                </a:solidFill>
                <a:latin typeface="Playpen Sans"/>
                <a:ea typeface="Playpen Sans"/>
                <a:cs typeface="Playpen Sans"/>
                <a:sym typeface="Playpen Sans"/>
              </a:rPr>
              <a:t>How?</a:t>
            </a:r>
          </a:p>
          <a:p>
            <a:pPr algn="l" marL="950817" indent="-475409" lvl="1">
              <a:lnSpc>
                <a:spcPts val="6165"/>
              </a:lnSpc>
              <a:buFont typeface="Arial"/>
              <a:buChar char="•"/>
            </a:pPr>
            <a:r>
              <a:rPr lang="en-US" sz="4403">
                <a:solidFill>
                  <a:srgbClr val="000000"/>
                </a:solidFill>
                <a:latin typeface="Playpen Sans"/>
                <a:ea typeface="Playpen Sans"/>
                <a:cs typeface="Playpen Sans"/>
                <a:sym typeface="Playpen Sans"/>
              </a:rPr>
              <a:t>Relies on old data they’ve used before</a:t>
            </a:r>
          </a:p>
          <a:p>
            <a:pPr algn="l" marL="950817" indent="-475409" lvl="1">
              <a:lnSpc>
                <a:spcPts val="6165"/>
              </a:lnSpc>
              <a:buFont typeface="Arial"/>
              <a:buChar char="•"/>
            </a:pPr>
            <a:r>
              <a:rPr lang="en-US" sz="4403">
                <a:solidFill>
                  <a:srgbClr val="000000"/>
                </a:solidFill>
                <a:latin typeface="Playpen Sans"/>
                <a:ea typeface="Playpen Sans"/>
                <a:cs typeface="Playpen Sans"/>
                <a:sym typeface="Playpen Sans"/>
              </a:rPr>
              <a:t>Relies on guesses</a:t>
            </a:r>
          </a:p>
          <a:p>
            <a:pPr algn="l" marL="950817" indent="-475409" lvl="1">
              <a:lnSpc>
                <a:spcPts val="6165"/>
              </a:lnSpc>
              <a:buFont typeface="Arial"/>
              <a:buChar char="•"/>
            </a:pPr>
            <a:r>
              <a:rPr lang="en-US" sz="4403">
                <a:solidFill>
                  <a:srgbClr val="000000"/>
                </a:solidFill>
                <a:latin typeface="Playpen Sans"/>
                <a:ea typeface="Playpen Sans"/>
                <a:cs typeface="Playpen Sans"/>
                <a:sym typeface="Playpen Sans"/>
              </a:rPr>
              <a:t>It doesn’t think, it predicts patterns</a:t>
            </a:r>
          </a:p>
        </p:txBody>
      </p:sp>
      <p:sp>
        <p:nvSpPr>
          <p:cNvPr name="TextBox 13" id="13"/>
          <p:cNvSpPr txBox="true"/>
          <p:nvPr/>
        </p:nvSpPr>
        <p:spPr>
          <a:xfrm rot="0">
            <a:off x="5376176" y="287576"/>
            <a:ext cx="7306366" cy="2663779"/>
          </a:xfrm>
          <a:prstGeom prst="rect">
            <a:avLst/>
          </a:prstGeom>
        </p:spPr>
        <p:txBody>
          <a:bodyPr anchor="t" rtlCol="false" tIns="0" lIns="0" bIns="0" rIns="0">
            <a:spAutoFit/>
          </a:bodyPr>
          <a:lstStyle/>
          <a:p>
            <a:pPr algn="ctr">
              <a:lnSpc>
                <a:spcPts val="10623"/>
              </a:lnSpc>
            </a:pPr>
            <a:r>
              <a:rPr lang="en-US" sz="7588">
                <a:solidFill>
                  <a:srgbClr val="FFFFFF"/>
                </a:solidFill>
                <a:latin typeface="Bobby Jones Soft"/>
                <a:ea typeface="Bobby Jones Soft"/>
                <a:cs typeface="Bobby Jones Soft"/>
                <a:sym typeface="Bobby Jones Soft"/>
              </a:rPr>
              <a:t>Ai can makes mistakes</a:t>
            </a:r>
          </a:p>
        </p:txBody>
      </p:sp>
      <p:sp>
        <p:nvSpPr>
          <p:cNvPr name="Freeform 14" id="14"/>
          <p:cNvSpPr/>
          <p:nvPr/>
        </p:nvSpPr>
        <p:spPr>
          <a:xfrm flipH="false" flipV="false" rot="0">
            <a:off x="11575355" y="3557913"/>
            <a:ext cx="5871866" cy="5871866"/>
          </a:xfrm>
          <a:custGeom>
            <a:avLst/>
            <a:gdLst/>
            <a:ahLst/>
            <a:cxnLst/>
            <a:rect r="r" b="b" t="t" l="l"/>
            <a:pathLst>
              <a:path h="5871866" w="5871866">
                <a:moveTo>
                  <a:pt x="0" y="0"/>
                </a:moveTo>
                <a:lnTo>
                  <a:pt x="5871865" y="0"/>
                </a:lnTo>
                <a:lnTo>
                  <a:pt x="5871865" y="5871866"/>
                </a:lnTo>
                <a:lnTo>
                  <a:pt x="0" y="5871866"/>
                </a:lnTo>
                <a:lnTo>
                  <a:pt x="0" y="0"/>
                </a:lnTo>
                <a:close/>
              </a:path>
            </a:pathLst>
          </a:custGeom>
          <a:blipFill>
            <a:blip r:embed="rId6"/>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078662">
            <a:off x="16240667" y="-2153823"/>
            <a:ext cx="6159329" cy="5789769"/>
          </a:xfrm>
          <a:custGeom>
            <a:avLst/>
            <a:gdLst/>
            <a:ahLst/>
            <a:cxnLst/>
            <a:rect r="r" b="b" t="t" l="l"/>
            <a:pathLst>
              <a:path h="5789769" w="6159329">
                <a:moveTo>
                  <a:pt x="0" y="0"/>
                </a:moveTo>
                <a:lnTo>
                  <a:pt x="6159329" y="0"/>
                </a:lnTo>
                <a:lnTo>
                  <a:pt x="6159329" y="5789769"/>
                </a:lnTo>
                <a:lnTo>
                  <a:pt x="0" y="57897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859461">
            <a:off x="-4153949" y="-1866184"/>
            <a:ext cx="6159329" cy="5789769"/>
          </a:xfrm>
          <a:custGeom>
            <a:avLst/>
            <a:gdLst/>
            <a:ahLst/>
            <a:cxnLst/>
            <a:rect r="r" b="b" t="t" l="l"/>
            <a:pathLst>
              <a:path h="5789769" w="6159329">
                <a:moveTo>
                  <a:pt x="0" y="0"/>
                </a:moveTo>
                <a:lnTo>
                  <a:pt x="6159329" y="0"/>
                </a:lnTo>
                <a:lnTo>
                  <a:pt x="6159329" y="5789768"/>
                </a:lnTo>
                <a:lnTo>
                  <a:pt x="0" y="57897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050964" y="8428497"/>
            <a:ext cx="6159329" cy="5789769"/>
          </a:xfrm>
          <a:custGeom>
            <a:avLst/>
            <a:gdLst/>
            <a:ahLst/>
            <a:cxnLst/>
            <a:rect r="r" b="b" t="t" l="l"/>
            <a:pathLst>
              <a:path h="5789769" w="6159329">
                <a:moveTo>
                  <a:pt x="0" y="0"/>
                </a:moveTo>
                <a:lnTo>
                  <a:pt x="6159328" y="0"/>
                </a:lnTo>
                <a:lnTo>
                  <a:pt x="6159328" y="5789769"/>
                </a:lnTo>
                <a:lnTo>
                  <a:pt x="0" y="57897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4769298">
            <a:off x="16404684" y="7153971"/>
            <a:ext cx="6159329" cy="5789769"/>
          </a:xfrm>
          <a:custGeom>
            <a:avLst/>
            <a:gdLst/>
            <a:ahLst/>
            <a:cxnLst/>
            <a:rect r="r" b="b" t="t" l="l"/>
            <a:pathLst>
              <a:path h="5789769" w="6159329">
                <a:moveTo>
                  <a:pt x="0" y="0"/>
                </a:moveTo>
                <a:lnTo>
                  <a:pt x="6159329" y="0"/>
                </a:lnTo>
                <a:lnTo>
                  <a:pt x="6159329" y="5789769"/>
                </a:lnTo>
                <a:lnTo>
                  <a:pt x="0" y="57897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4368768" y="741061"/>
            <a:ext cx="9550464" cy="2758509"/>
            <a:chOff x="0" y="0"/>
            <a:chExt cx="2951187" cy="852406"/>
          </a:xfrm>
        </p:grpSpPr>
        <p:sp>
          <p:nvSpPr>
            <p:cNvPr name="Freeform 7" id="7"/>
            <p:cNvSpPr/>
            <p:nvPr/>
          </p:nvSpPr>
          <p:spPr>
            <a:xfrm flipH="false" flipV="false" rot="0">
              <a:off x="0" y="0"/>
              <a:ext cx="2951187" cy="852406"/>
            </a:xfrm>
            <a:custGeom>
              <a:avLst/>
              <a:gdLst/>
              <a:ahLst/>
              <a:cxnLst/>
              <a:rect r="r" b="b" t="t" l="l"/>
              <a:pathLst>
                <a:path h="852406" w="2951187">
                  <a:moveTo>
                    <a:pt x="41342" y="0"/>
                  </a:moveTo>
                  <a:lnTo>
                    <a:pt x="2909845" y="0"/>
                  </a:lnTo>
                  <a:cubicBezTo>
                    <a:pt x="2920810" y="0"/>
                    <a:pt x="2931325" y="4356"/>
                    <a:pt x="2939078" y="12109"/>
                  </a:cubicBezTo>
                  <a:cubicBezTo>
                    <a:pt x="2946831" y="19862"/>
                    <a:pt x="2951187" y="30378"/>
                    <a:pt x="2951187" y="41342"/>
                  </a:cubicBezTo>
                  <a:lnTo>
                    <a:pt x="2951187" y="811064"/>
                  </a:lnTo>
                  <a:cubicBezTo>
                    <a:pt x="2951187" y="833897"/>
                    <a:pt x="2932678" y="852406"/>
                    <a:pt x="2909845" y="852406"/>
                  </a:cubicBezTo>
                  <a:lnTo>
                    <a:pt x="41342" y="852406"/>
                  </a:lnTo>
                  <a:cubicBezTo>
                    <a:pt x="18510" y="852406"/>
                    <a:pt x="0" y="833897"/>
                    <a:pt x="0" y="811064"/>
                  </a:cubicBezTo>
                  <a:lnTo>
                    <a:pt x="0" y="41342"/>
                  </a:lnTo>
                  <a:cubicBezTo>
                    <a:pt x="0" y="18510"/>
                    <a:pt x="18510" y="0"/>
                    <a:pt x="41342" y="0"/>
                  </a:cubicBezTo>
                  <a:close/>
                </a:path>
              </a:pathLst>
            </a:custGeom>
            <a:solidFill>
              <a:srgbClr val="ED9D9D"/>
            </a:solidFill>
            <a:ln w="66675" cap="rnd">
              <a:solidFill>
                <a:srgbClr val="000000"/>
              </a:solidFill>
              <a:prstDash val="solid"/>
              <a:round/>
            </a:ln>
          </p:spPr>
        </p:sp>
        <p:sp>
          <p:nvSpPr>
            <p:cNvPr name="TextBox 8" id="8"/>
            <p:cNvSpPr txBox="true"/>
            <p:nvPr/>
          </p:nvSpPr>
          <p:spPr>
            <a:xfrm>
              <a:off x="0" y="-38100"/>
              <a:ext cx="2951187" cy="890506"/>
            </a:xfrm>
            <a:prstGeom prst="rect">
              <a:avLst/>
            </a:prstGeom>
          </p:spPr>
          <p:txBody>
            <a:bodyPr anchor="ctr" rtlCol="false" tIns="43298" lIns="43298" bIns="43298" rIns="43298"/>
            <a:lstStyle/>
            <a:p>
              <a:pPr algn="ctr">
                <a:lnSpc>
                  <a:spcPts val="2659"/>
                </a:lnSpc>
                <a:spcBef>
                  <a:spcPct val="0"/>
                </a:spcBef>
              </a:pPr>
            </a:p>
          </p:txBody>
        </p:sp>
      </p:grpSp>
      <p:grpSp>
        <p:nvGrpSpPr>
          <p:cNvPr name="Group 9" id="9"/>
          <p:cNvGrpSpPr/>
          <p:nvPr/>
        </p:nvGrpSpPr>
        <p:grpSpPr>
          <a:xfrm rot="0">
            <a:off x="2316784" y="3986189"/>
            <a:ext cx="13654431" cy="5013108"/>
            <a:chOff x="0" y="0"/>
            <a:chExt cx="3353283" cy="1231129"/>
          </a:xfrm>
        </p:grpSpPr>
        <p:sp>
          <p:nvSpPr>
            <p:cNvPr name="Freeform 10" id="10"/>
            <p:cNvSpPr/>
            <p:nvPr/>
          </p:nvSpPr>
          <p:spPr>
            <a:xfrm flipH="false" flipV="false" rot="0">
              <a:off x="0" y="0"/>
              <a:ext cx="3353283" cy="1231129"/>
            </a:xfrm>
            <a:custGeom>
              <a:avLst/>
              <a:gdLst/>
              <a:ahLst/>
              <a:cxnLst/>
              <a:rect r="r" b="b" t="t" l="l"/>
              <a:pathLst>
                <a:path h="1231129" w="3353283">
                  <a:moveTo>
                    <a:pt x="28916" y="0"/>
                  </a:moveTo>
                  <a:lnTo>
                    <a:pt x="3324366" y="0"/>
                  </a:lnTo>
                  <a:cubicBezTo>
                    <a:pt x="3340336" y="0"/>
                    <a:pt x="3353283" y="12946"/>
                    <a:pt x="3353283" y="28916"/>
                  </a:cubicBezTo>
                  <a:lnTo>
                    <a:pt x="3353283" y="1202213"/>
                  </a:lnTo>
                  <a:cubicBezTo>
                    <a:pt x="3353283" y="1209882"/>
                    <a:pt x="3350236" y="1217237"/>
                    <a:pt x="3344814" y="1222660"/>
                  </a:cubicBezTo>
                  <a:cubicBezTo>
                    <a:pt x="3339391" y="1228083"/>
                    <a:pt x="3332036" y="1231129"/>
                    <a:pt x="3324366" y="1231129"/>
                  </a:cubicBezTo>
                  <a:lnTo>
                    <a:pt x="28916" y="1231129"/>
                  </a:lnTo>
                  <a:cubicBezTo>
                    <a:pt x="12946" y="1231129"/>
                    <a:pt x="0" y="1218183"/>
                    <a:pt x="0" y="1202213"/>
                  </a:cubicBezTo>
                  <a:lnTo>
                    <a:pt x="0" y="28916"/>
                  </a:lnTo>
                  <a:cubicBezTo>
                    <a:pt x="0" y="12946"/>
                    <a:pt x="12946" y="0"/>
                    <a:pt x="28916" y="0"/>
                  </a:cubicBezTo>
                  <a:close/>
                </a:path>
              </a:pathLst>
            </a:custGeom>
            <a:solidFill>
              <a:srgbClr val="7E94B7"/>
            </a:solidFill>
            <a:ln w="66675" cap="rnd">
              <a:solidFill>
                <a:srgbClr val="000000"/>
              </a:solidFill>
              <a:prstDash val="solid"/>
              <a:round/>
            </a:ln>
          </p:spPr>
        </p:sp>
        <p:sp>
          <p:nvSpPr>
            <p:cNvPr name="TextBox 11" id="11"/>
            <p:cNvSpPr txBox="true"/>
            <p:nvPr/>
          </p:nvSpPr>
          <p:spPr>
            <a:xfrm>
              <a:off x="0" y="-38100"/>
              <a:ext cx="3353283" cy="1269229"/>
            </a:xfrm>
            <a:prstGeom prst="rect">
              <a:avLst/>
            </a:prstGeom>
          </p:spPr>
          <p:txBody>
            <a:bodyPr anchor="ctr" rtlCol="false" tIns="43298" lIns="43298" bIns="43298" rIns="43298"/>
            <a:lstStyle/>
            <a:p>
              <a:pPr algn="ctr">
                <a:lnSpc>
                  <a:spcPts val="2659"/>
                </a:lnSpc>
                <a:spcBef>
                  <a:spcPct val="0"/>
                </a:spcBef>
              </a:pPr>
            </a:p>
          </p:txBody>
        </p:sp>
      </p:grpSp>
      <p:sp>
        <p:nvSpPr>
          <p:cNvPr name="TextBox 12" id="12"/>
          <p:cNvSpPr txBox="true"/>
          <p:nvPr/>
        </p:nvSpPr>
        <p:spPr>
          <a:xfrm rot="0">
            <a:off x="3166262" y="4649491"/>
            <a:ext cx="12612788" cy="3619829"/>
          </a:xfrm>
          <a:prstGeom prst="rect">
            <a:avLst/>
          </a:prstGeom>
        </p:spPr>
        <p:txBody>
          <a:bodyPr anchor="t" rtlCol="false" tIns="0" lIns="0" bIns="0" rIns="0">
            <a:spAutoFit/>
          </a:bodyPr>
          <a:lstStyle/>
          <a:p>
            <a:pPr algn="l" marL="890602" indent="-445301" lvl="1">
              <a:lnSpc>
                <a:spcPts val="5775"/>
              </a:lnSpc>
              <a:buFont typeface="Arial"/>
              <a:buChar char="•"/>
            </a:pPr>
            <a:r>
              <a:rPr lang="en-US" sz="4125">
                <a:solidFill>
                  <a:srgbClr val="000000"/>
                </a:solidFill>
                <a:latin typeface="Playpen Sans"/>
                <a:ea typeface="Playpen Sans"/>
                <a:cs typeface="Playpen Sans"/>
                <a:sym typeface="Playpen Sans"/>
              </a:rPr>
              <a:t>Factual errors: missing important information</a:t>
            </a:r>
          </a:p>
          <a:p>
            <a:pPr algn="l" marL="890602" indent="-445301" lvl="1">
              <a:lnSpc>
                <a:spcPts val="5775"/>
              </a:lnSpc>
              <a:buFont typeface="Arial"/>
              <a:buChar char="•"/>
            </a:pPr>
            <a:r>
              <a:rPr lang="en-US" sz="4125">
                <a:solidFill>
                  <a:srgbClr val="000000"/>
                </a:solidFill>
                <a:latin typeface="Playpen Sans"/>
                <a:ea typeface="Playpen Sans"/>
                <a:cs typeface="Playpen Sans"/>
                <a:sym typeface="Playpen Sans"/>
              </a:rPr>
              <a:t>Bias: unfair patterns learned from data</a:t>
            </a:r>
          </a:p>
          <a:p>
            <a:pPr algn="l" marL="890602" indent="-445301" lvl="1">
              <a:lnSpc>
                <a:spcPts val="5775"/>
              </a:lnSpc>
              <a:buFont typeface="Arial"/>
              <a:buChar char="•"/>
            </a:pPr>
            <a:r>
              <a:rPr lang="en-US" sz="4125">
                <a:solidFill>
                  <a:srgbClr val="000000"/>
                </a:solidFill>
                <a:latin typeface="Playpen Sans"/>
                <a:ea typeface="Playpen Sans"/>
                <a:cs typeface="Playpen Sans"/>
                <a:sym typeface="Playpen Sans"/>
              </a:rPr>
              <a:t>Hallucinations: making information up</a:t>
            </a:r>
          </a:p>
          <a:p>
            <a:pPr algn="l" marL="890602" indent="-445301" lvl="1">
              <a:lnSpc>
                <a:spcPts val="5775"/>
              </a:lnSpc>
              <a:buFont typeface="Arial"/>
              <a:buChar char="•"/>
            </a:pPr>
            <a:r>
              <a:rPr lang="en-US" sz="4125">
                <a:solidFill>
                  <a:srgbClr val="000000"/>
                </a:solidFill>
                <a:latin typeface="Playpen Sans"/>
                <a:ea typeface="Playpen Sans"/>
                <a:cs typeface="Playpen Sans"/>
                <a:sym typeface="Playpen Sans"/>
              </a:rPr>
              <a:t>Misunderstanding context</a:t>
            </a:r>
          </a:p>
        </p:txBody>
      </p:sp>
      <p:sp>
        <p:nvSpPr>
          <p:cNvPr name="TextBox 13" id="13"/>
          <p:cNvSpPr txBox="true"/>
          <p:nvPr/>
        </p:nvSpPr>
        <p:spPr>
          <a:xfrm rot="0">
            <a:off x="5458619" y="707524"/>
            <a:ext cx="7370761" cy="2663657"/>
          </a:xfrm>
          <a:prstGeom prst="rect">
            <a:avLst/>
          </a:prstGeom>
        </p:spPr>
        <p:txBody>
          <a:bodyPr anchor="t" rtlCol="false" tIns="0" lIns="0" bIns="0" rIns="0">
            <a:spAutoFit/>
          </a:bodyPr>
          <a:lstStyle/>
          <a:p>
            <a:pPr algn="ctr">
              <a:lnSpc>
                <a:spcPts val="10623"/>
              </a:lnSpc>
            </a:pPr>
            <a:r>
              <a:rPr lang="en-US" sz="7588">
                <a:solidFill>
                  <a:srgbClr val="FFFFFF"/>
                </a:solidFill>
                <a:latin typeface="Bobby Jones Soft"/>
                <a:ea typeface="Bobby Jones Soft"/>
                <a:cs typeface="Bobby Jones Soft"/>
                <a:sym typeface="Bobby Jones Soft"/>
              </a:rPr>
              <a:t>TYpes of mistakes ai can make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078662">
            <a:off x="16240667" y="-2153823"/>
            <a:ext cx="6159329" cy="5789769"/>
          </a:xfrm>
          <a:custGeom>
            <a:avLst/>
            <a:gdLst/>
            <a:ahLst/>
            <a:cxnLst/>
            <a:rect r="r" b="b" t="t" l="l"/>
            <a:pathLst>
              <a:path h="5789769" w="6159329">
                <a:moveTo>
                  <a:pt x="0" y="0"/>
                </a:moveTo>
                <a:lnTo>
                  <a:pt x="6159329" y="0"/>
                </a:lnTo>
                <a:lnTo>
                  <a:pt x="6159329" y="5789769"/>
                </a:lnTo>
                <a:lnTo>
                  <a:pt x="0" y="57897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859461">
            <a:off x="-4153949" y="-1866184"/>
            <a:ext cx="6159329" cy="5789769"/>
          </a:xfrm>
          <a:custGeom>
            <a:avLst/>
            <a:gdLst/>
            <a:ahLst/>
            <a:cxnLst/>
            <a:rect r="r" b="b" t="t" l="l"/>
            <a:pathLst>
              <a:path h="5789769" w="6159329">
                <a:moveTo>
                  <a:pt x="0" y="0"/>
                </a:moveTo>
                <a:lnTo>
                  <a:pt x="6159329" y="0"/>
                </a:lnTo>
                <a:lnTo>
                  <a:pt x="6159329" y="5789768"/>
                </a:lnTo>
                <a:lnTo>
                  <a:pt x="0" y="57897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050964" y="8428497"/>
            <a:ext cx="6159329" cy="5789769"/>
          </a:xfrm>
          <a:custGeom>
            <a:avLst/>
            <a:gdLst/>
            <a:ahLst/>
            <a:cxnLst/>
            <a:rect r="r" b="b" t="t" l="l"/>
            <a:pathLst>
              <a:path h="5789769" w="6159329">
                <a:moveTo>
                  <a:pt x="0" y="0"/>
                </a:moveTo>
                <a:lnTo>
                  <a:pt x="6159328" y="0"/>
                </a:lnTo>
                <a:lnTo>
                  <a:pt x="6159328" y="5789769"/>
                </a:lnTo>
                <a:lnTo>
                  <a:pt x="0" y="57897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4769298">
            <a:off x="16404684" y="7153971"/>
            <a:ext cx="6159329" cy="5789769"/>
          </a:xfrm>
          <a:custGeom>
            <a:avLst/>
            <a:gdLst/>
            <a:ahLst/>
            <a:cxnLst/>
            <a:rect r="r" b="b" t="t" l="l"/>
            <a:pathLst>
              <a:path h="5789769" w="6159329">
                <a:moveTo>
                  <a:pt x="0" y="0"/>
                </a:moveTo>
                <a:lnTo>
                  <a:pt x="6159329" y="0"/>
                </a:lnTo>
                <a:lnTo>
                  <a:pt x="6159329" y="5789769"/>
                </a:lnTo>
                <a:lnTo>
                  <a:pt x="0" y="57897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4368768" y="422247"/>
            <a:ext cx="9550464" cy="2184643"/>
            <a:chOff x="0" y="0"/>
            <a:chExt cx="2951187" cy="675076"/>
          </a:xfrm>
        </p:grpSpPr>
        <p:sp>
          <p:nvSpPr>
            <p:cNvPr name="Freeform 7" id="7"/>
            <p:cNvSpPr/>
            <p:nvPr/>
          </p:nvSpPr>
          <p:spPr>
            <a:xfrm flipH="false" flipV="false" rot="0">
              <a:off x="0" y="0"/>
              <a:ext cx="2951187" cy="675076"/>
            </a:xfrm>
            <a:custGeom>
              <a:avLst/>
              <a:gdLst/>
              <a:ahLst/>
              <a:cxnLst/>
              <a:rect r="r" b="b" t="t" l="l"/>
              <a:pathLst>
                <a:path h="675076" w="2951187">
                  <a:moveTo>
                    <a:pt x="41342" y="0"/>
                  </a:moveTo>
                  <a:lnTo>
                    <a:pt x="2909845" y="0"/>
                  </a:lnTo>
                  <a:cubicBezTo>
                    <a:pt x="2920810" y="0"/>
                    <a:pt x="2931325" y="4356"/>
                    <a:pt x="2939078" y="12109"/>
                  </a:cubicBezTo>
                  <a:cubicBezTo>
                    <a:pt x="2946831" y="19862"/>
                    <a:pt x="2951187" y="30378"/>
                    <a:pt x="2951187" y="41342"/>
                  </a:cubicBezTo>
                  <a:lnTo>
                    <a:pt x="2951187" y="633734"/>
                  </a:lnTo>
                  <a:cubicBezTo>
                    <a:pt x="2951187" y="656566"/>
                    <a:pt x="2932678" y="675076"/>
                    <a:pt x="2909845" y="675076"/>
                  </a:cubicBezTo>
                  <a:lnTo>
                    <a:pt x="41342" y="675076"/>
                  </a:lnTo>
                  <a:cubicBezTo>
                    <a:pt x="18510" y="675076"/>
                    <a:pt x="0" y="656566"/>
                    <a:pt x="0" y="633734"/>
                  </a:cubicBezTo>
                  <a:lnTo>
                    <a:pt x="0" y="41342"/>
                  </a:lnTo>
                  <a:cubicBezTo>
                    <a:pt x="0" y="18510"/>
                    <a:pt x="18510" y="0"/>
                    <a:pt x="41342" y="0"/>
                  </a:cubicBezTo>
                  <a:close/>
                </a:path>
              </a:pathLst>
            </a:custGeom>
            <a:solidFill>
              <a:srgbClr val="ED9D9D"/>
            </a:solidFill>
            <a:ln w="66675" cap="rnd">
              <a:solidFill>
                <a:srgbClr val="000000"/>
              </a:solidFill>
              <a:prstDash val="solid"/>
              <a:round/>
            </a:ln>
          </p:spPr>
        </p:sp>
        <p:sp>
          <p:nvSpPr>
            <p:cNvPr name="TextBox 8" id="8"/>
            <p:cNvSpPr txBox="true"/>
            <p:nvPr/>
          </p:nvSpPr>
          <p:spPr>
            <a:xfrm>
              <a:off x="0" y="-38100"/>
              <a:ext cx="2951187" cy="713176"/>
            </a:xfrm>
            <a:prstGeom prst="rect">
              <a:avLst/>
            </a:prstGeom>
          </p:spPr>
          <p:txBody>
            <a:bodyPr anchor="ctr" rtlCol="false" tIns="43298" lIns="43298" bIns="43298" rIns="43298"/>
            <a:lstStyle/>
            <a:p>
              <a:pPr algn="ctr">
                <a:lnSpc>
                  <a:spcPts val="2659"/>
                </a:lnSpc>
                <a:spcBef>
                  <a:spcPct val="0"/>
                </a:spcBef>
              </a:pPr>
            </a:p>
          </p:txBody>
        </p:sp>
      </p:grpSp>
      <p:grpSp>
        <p:nvGrpSpPr>
          <p:cNvPr name="Group 9" id="9"/>
          <p:cNvGrpSpPr/>
          <p:nvPr/>
        </p:nvGrpSpPr>
        <p:grpSpPr>
          <a:xfrm rot="0">
            <a:off x="975118" y="3117045"/>
            <a:ext cx="16284182" cy="6751397"/>
            <a:chOff x="0" y="0"/>
            <a:chExt cx="3999103" cy="1658022"/>
          </a:xfrm>
        </p:grpSpPr>
        <p:sp>
          <p:nvSpPr>
            <p:cNvPr name="Freeform 10" id="10"/>
            <p:cNvSpPr/>
            <p:nvPr/>
          </p:nvSpPr>
          <p:spPr>
            <a:xfrm flipH="false" flipV="false" rot="0">
              <a:off x="0" y="0"/>
              <a:ext cx="3999103" cy="1658022"/>
            </a:xfrm>
            <a:custGeom>
              <a:avLst/>
              <a:gdLst/>
              <a:ahLst/>
              <a:cxnLst/>
              <a:rect r="r" b="b" t="t" l="l"/>
              <a:pathLst>
                <a:path h="1658022" w="3999103">
                  <a:moveTo>
                    <a:pt x="24247" y="0"/>
                  </a:moveTo>
                  <a:lnTo>
                    <a:pt x="3974856" y="0"/>
                  </a:lnTo>
                  <a:cubicBezTo>
                    <a:pt x="3988247" y="0"/>
                    <a:pt x="3999103" y="10856"/>
                    <a:pt x="3999103" y="24247"/>
                  </a:cubicBezTo>
                  <a:lnTo>
                    <a:pt x="3999103" y="1633775"/>
                  </a:lnTo>
                  <a:cubicBezTo>
                    <a:pt x="3999103" y="1647166"/>
                    <a:pt x="3988247" y="1658022"/>
                    <a:pt x="3974856" y="1658022"/>
                  </a:cubicBezTo>
                  <a:lnTo>
                    <a:pt x="24247" y="1658022"/>
                  </a:lnTo>
                  <a:cubicBezTo>
                    <a:pt x="10856" y="1658022"/>
                    <a:pt x="0" y="1647166"/>
                    <a:pt x="0" y="1633775"/>
                  </a:cubicBezTo>
                  <a:lnTo>
                    <a:pt x="0" y="24247"/>
                  </a:lnTo>
                  <a:cubicBezTo>
                    <a:pt x="0" y="10856"/>
                    <a:pt x="10856" y="0"/>
                    <a:pt x="24247" y="0"/>
                  </a:cubicBezTo>
                  <a:close/>
                </a:path>
              </a:pathLst>
            </a:custGeom>
            <a:solidFill>
              <a:srgbClr val="7E94B7"/>
            </a:solidFill>
            <a:ln w="66675" cap="rnd">
              <a:solidFill>
                <a:srgbClr val="000000"/>
              </a:solidFill>
              <a:prstDash val="solid"/>
              <a:round/>
            </a:ln>
          </p:spPr>
        </p:sp>
        <p:sp>
          <p:nvSpPr>
            <p:cNvPr name="TextBox 11" id="11"/>
            <p:cNvSpPr txBox="true"/>
            <p:nvPr/>
          </p:nvSpPr>
          <p:spPr>
            <a:xfrm>
              <a:off x="0" y="-38100"/>
              <a:ext cx="3999103" cy="1696122"/>
            </a:xfrm>
            <a:prstGeom prst="rect">
              <a:avLst/>
            </a:prstGeom>
          </p:spPr>
          <p:txBody>
            <a:bodyPr anchor="ctr" rtlCol="false" tIns="43298" lIns="43298" bIns="43298" rIns="43298"/>
            <a:lstStyle/>
            <a:p>
              <a:pPr algn="ctr">
                <a:lnSpc>
                  <a:spcPts val="2659"/>
                </a:lnSpc>
                <a:spcBef>
                  <a:spcPct val="0"/>
                </a:spcBef>
              </a:pPr>
            </a:p>
          </p:txBody>
        </p:sp>
      </p:grpSp>
      <p:sp>
        <p:nvSpPr>
          <p:cNvPr name="TextBox 12" id="12"/>
          <p:cNvSpPr txBox="true"/>
          <p:nvPr/>
        </p:nvSpPr>
        <p:spPr>
          <a:xfrm rot="0">
            <a:off x="1280414" y="3535826"/>
            <a:ext cx="15402915" cy="5725365"/>
          </a:xfrm>
          <a:prstGeom prst="rect">
            <a:avLst/>
          </a:prstGeom>
        </p:spPr>
        <p:txBody>
          <a:bodyPr anchor="t" rtlCol="false" tIns="0" lIns="0" bIns="0" rIns="0">
            <a:spAutoFit/>
          </a:bodyPr>
          <a:lstStyle/>
          <a:p>
            <a:pPr algn="l" marL="582944" indent="-291472" lvl="1">
              <a:lnSpc>
                <a:spcPts val="3780"/>
              </a:lnSpc>
              <a:buFont typeface="Arial"/>
              <a:buChar char="•"/>
            </a:pPr>
            <a:r>
              <a:rPr lang="en-US" sz="2700">
                <a:solidFill>
                  <a:srgbClr val="000000"/>
                </a:solidFill>
                <a:latin typeface="Playpen Sans"/>
                <a:ea typeface="Playpen Sans"/>
                <a:cs typeface="Playpen Sans"/>
                <a:sym typeface="Playpen Sans"/>
              </a:rPr>
              <a:t>Factual errors: Told a customer they could get a refund under a real policy, but got the policy details wrong. Airline was held responsible for what its AI told the customer.</a:t>
            </a:r>
          </a:p>
          <a:p>
            <a:pPr algn="l">
              <a:lnSpc>
                <a:spcPts val="3780"/>
              </a:lnSpc>
            </a:pPr>
          </a:p>
          <a:p>
            <a:pPr algn="l" marL="582944" indent="-291472" lvl="1">
              <a:lnSpc>
                <a:spcPts val="3780"/>
              </a:lnSpc>
              <a:buFont typeface="Arial"/>
              <a:buChar char="•"/>
            </a:pPr>
            <a:r>
              <a:rPr lang="en-US" sz="2700">
                <a:solidFill>
                  <a:srgbClr val="000000"/>
                </a:solidFill>
                <a:latin typeface="Playpen Sans"/>
                <a:ea typeface="Playpen Sans"/>
                <a:cs typeface="Playpen Sans"/>
                <a:sym typeface="Playpen Sans"/>
              </a:rPr>
              <a:t>Bias: Amazon built an AI to help sort job applications. But it had learned from old hiring data that was mostly men, so it started downgrading resumes that had the word "women's" in them (like "women's chess club"). Amazon found out and shut the tool down before it was fully used.</a:t>
            </a:r>
          </a:p>
          <a:p>
            <a:pPr algn="l">
              <a:lnSpc>
                <a:spcPts val="3780"/>
              </a:lnSpc>
            </a:pPr>
          </a:p>
          <a:p>
            <a:pPr algn="l" marL="582944" indent="-291472" lvl="1">
              <a:lnSpc>
                <a:spcPts val="3780"/>
              </a:lnSpc>
              <a:buFont typeface="Arial"/>
              <a:buChar char="•"/>
            </a:pPr>
            <a:r>
              <a:rPr lang="en-US" sz="2700">
                <a:solidFill>
                  <a:srgbClr val="000000"/>
                </a:solidFill>
                <a:latin typeface="Playpen Sans"/>
                <a:ea typeface="Playpen Sans"/>
                <a:cs typeface="Playpen Sans"/>
                <a:sym typeface="Playpen Sans"/>
              </a:rPr>
              <a:t>Hallucinations: A lawyer used ChatGPT for legal research. It invented 6 fake court cases with fake quotes. When he asked the AI to double check, it said they were real. He got fined because he never checked if the cases were real before submitting them to court</a:t>
            </a:r>
          </a:p>
        </p:txBody>
      </p:sp>
      <p:sp>
        <p:nvSpPr>
          <p:cNvPr name="TextBox 13" id="13"/>
          <p:cNvSpPr txBox="true"/>
          <p:nvPr/>
        </p:nvSpPr>
        <p:spPr>
          <a:xfrm rot="0">
            <a:off x="4999803" y="887773"/>
            <a:ext cx="8288393" cy="1316432"/>
          </a:xfrm>
          <a:prstGeom prst="rect">
            <a:avLst/>
          </a:prstGeom>
        </p:spPr>
        <p:txBody>
          <a:bodyPr anchor="t" rtlCol="false" tIns="0" lIns="0" bIns="0" rIns="0">
            <a:spAutoFit/>
          </a:bodyPr>
          <a:lstStyle/>
          <a:p>
            <a:pPr algn="ctr">
              <a:lnSpc>
                <a:spcPts val="10623"/>
              </a:lnSpc>
            </a:pPr>
            <a:r>
              <a:rPr lang="en-US" sz="7588">
                <a:solidFill>
                  <a:srgbClr val="FFFFFF"/>
                </a:solidFill>
                <a:latin typeface="Bobby Jones Soft"/>
                <a:ea typeface="Bobby Jones Soft"/>
                <a:cs typeface="Bobby Jones Soft"/>
                <a:sym typeface="Bobby Jones Soft"/>
              </a:rPr>
              <a:t>Real life EXAMPLES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078662">
            <a:off x="16240667" y="-2153823"/>
            <a:ext cx="6159329" cy="5789769"/>
          </a:xfrm>
          <a:custGeom>
            <a:avLst/>
            <a:gdLst/>
            <a:ahLst/>
            <a:cxnLst/>
            <a:rect r="r" b="b" t="t" l="l"/>
            <a:pathLst>
              <a:path h="5789769" w="6159329">
                <a:moveTo>
                  <a:pt x="0" y="0"/>
                </a:moveTo>
                <a:lnTo>
                  <a:pt x="6159329" y="0"/>
                </a:lnTo>
                <a:lnTo>
                  <a:pt x="6159329" y="5789769"/>
                </a:lnTo>
                <a:lnTo>
                  <a:pt x="0" y="57897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859461">
            <a:off x="-4153949" y="-1866184"/>
            <a:ext cx="6159329" cy="5789769"/>
          </a:xfrm>
          <a:custGeom>
            <a:avLst/>
            <a:gdLst/>
            <a:ahLst/>
            <a:cxnLst/>
            <a:rect r="r" b="b" t="t" l="l"/>
            <a:pathLst>
              <a:path h="5789769" w="6159329">
                <a:moveTo>
                  <a:pt x="0" y="0"/>
                </a:moveTo>
                <a:lnTo>
                  <a:pt x="6159329" y="0"/>
                </a:lnTo>
                <a:lnTo>
                  <a:pt x="6159329" y="5789768"/>
                </a:lnTo>
                <a:lnTo>
                  <a:pt x="0" y="57897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050964" y="8428497"/>
            <a:ext cx="6159329" cy="5789769"/>
          </a:xfrm>
          <a:custGeom>
            <a:avLst/>
            <a:gdLst/>
            <a:ahLst/>
            <a:cxnLst/>
            <a:rect r="r" b="b" t="t" l="l"/>
            <a:pathLst>
              <a:path h="5789769" w="6159329">
                <a:moveTo>
                  <a:pt x="0" y="0"/>
                </a:moveTo>
                <a:lnTo>
                  <a:pt x="6159328" y="0"/>
                </a:lnTo>
                <a:lnTo>
                  <a:pt x="6159328" y="5789769"/>
                </a:lnTo>
                <a:lnTo>
                  <a:pt x="0" y="57897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4769298">
            <a:off x="16404684" y="7153971"/>
            <a:ext cx="6159329" cy="5789769"/>
          </a:xfrm>
          <a:custGeom>
            <a:avLst/>
            <a:gdLst/>
            <a:ahLst/>
            <a:cxnLst/>
            <a:rect r="r" b="b" t="t" l="l"/>
            <a:pathLst>
              <a:path h="5789769" w="6159329">
                <a:moveTo>
                  <a:pt x="0" y="0"/>
                </a:moveTo>
                <a:lnTo>
                  <a:pt x="6159329" y="0"/>
                </a:lnTo>
                <a:lnTo>
                  <a:pt x="6159329" y="5789769"/>
                </a:lnTo>
                <a:lnTo>
                  <a:pt x="0" y="57897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2160088" y="576689"/>
            <a:ext cx="14098885" cy="1865828"/>
            <a:chOff x="0" y="0"/>
            <a:chExt cx="4356694" cy="576559"/>
          </a:xfrm>
        </p:grpSpPr>
        <p:sp>
          <p:nvSpPr>
            <p:cNvPr name="Freeform 7" id="7"/>
            <p:cNvSpPr/>
            <p:nvPr/>
          </p:nvSpPr>
          <p:spPr>
            <a:xfrm flipH="false" flipV="false" rot="0">
              <a:off x="0" y="0"/>
              <a:ext cx="4356694" cy="576559"/>
            </a:xfrm>
            <a:custGeom>
              <a:avLst/>
              <a:gdLst/>
              <a:ahLst/>
              <a:cxnLst/>
              <a:rect r="r" b="b" t="t" l="l"/>
              <a:pathLst>
                <a:path h="576559" w="4356694">
                  <a:moveTo>
                    <a:pt x="28005" y="0"/>
                  </a:moveTo>
                  <a:lnTo>
                    <a:pt x="4328689" y="0"/>
                  </a:lnTo>
                  <a:cubicBezTo>
                    <a:pt x="4344155" y="0"/>
                    <a:pt x="4356694" y="12538"/>
                    <a:pt x="4356694" y="28005"/>
                  </a:cubicBezTo>
                  <a:lnTo>
                    <a:pt x="4356694" y="548554"/>
                  </a:lnTo>
                  <a:cubicBezTo>
                    <a:pt x="4356694" y="564021"/>
                    <a:pt x="4344155" y="576559"/>
                    <a:pt x="4328689" y="576559"/>
                  </a:cubicBezTo>
                  <a:lnTo>
                    <a:pt x="28005" y="576559"/>
                  </a:lnTo>
                  <a:cubicBezTo>
                    <a:pt x="12538" y="576559"/>
                    <a:pt x="0" y="564021"/>
                    <a:pt x="0" y="548554"/>
                  </a:cubicBezTo>
                  <a:lnTo>
                    <a:pt x="0" y="28005"/>
                  </a:lnTo>
                  <a:cubicBezTo>
                    <a:pt x="0" y="12538"/>
                    <a:pt x="12538" y="0"/>
                    <a:pt x="28005" y="0"/>
                  </a:cubicBezTo>
                  <a:close/>
                </a:path>
              </a:pathLst>
            </a:custGeom>
            <a:solidFill>
              <a:srgbClr val="ED9D9D"/>
            </a:solidFill>
            <a:ln w="66675" cap="rnd">
              <a:solidFill>
                <a:srgbClr val="000000"/>
              </a:solidFill>
              <a:prstDash val="solid"/>
              <a:round/>
            </a:ln>
          </p:spPr>
        </p:sp>
        <p:sp>
          <p:nvSpPr>
            <p:cNvPr name="TextBox 8" id="8"/>
            <p:cNvSpPr txBox="true"/>
            <p:nvPr/>
          </p:nvSpPr>
          <p:spPr>
            <a:xfrm>
              <a:off x="0" y="-38100"/>
              <a:ext cx="4356694" cy="614659"/>
            </a:xfrm>
            <a:prstGeom prst="rect">
              <a:avLst/>
            </a:prstGeom>
          </p:spPr>
          <p:txBody>
            <a:bodyPr anchor="ctr" rtlCol="false" tIns="43298" lIns="43298" bIns="43298" rIns="43298"/>
            <a:lstStyle/>
            <a:p>
              <a:pPr algn="ctr">
                <a:lnSpc>
                  <a:spcPts val="2659"/>
                </a:lnSpc>
                <a:spcBef>
                  <a:spcPct val="0"/>
                </a:spcBef>
              </a:pPr>
            </a:p>
          </p:txBody>
        </p:sp>
      </p:grpSp>
      <p:grpSp>
        <p:nvGrpSpPr>
          <p:cNvPr name="Group 9" id="9"/>
          <p:cNvGrpSpPr/>
          <p:nvPr/>
        </p:nvGrpSpPr>
        <p:grpSpPr>
          <a:xfrm rot="0">
            <a:off x="1929603" y="2764159"/>
            <a:ext cx="14428793" cy="6944978"/>
            <a:chOff x="0" y="0"/>
            <a:chExt cx="2893952" cy="1392939"/>
          </a:xfrm>
        </p:grpSpPr>
        <p:sp>
          <p:nvSpPr>
            <p:cNvPr name="Freeform 10" id="10"/>
            <p:cNvSpPr/>
            <p:nvPr/>
          </p:nvSpPr>
          <p:spPr>
            <a:xfrm flipH="false" flipV="false" rot="0">
              <a:off x="0" y="0"/>
              <a:ext cx="2893952" cy="1392939"/>
            </a:xfrm>
            <a:custGeom>
              <a:avLst/>
              <a:gdLst/>
              <a:ahLst/>
              <a:cxnLst/>
              <a:rect r="r" b="b" t="t" l="l"/>
              <a:pathLst>
                <a:path h="1392939" w="2893952">
                  <a:moveTo>
                    <a:pt x="27365" y="0"/>
                  </a:moveTo>
                  <a:lnTo>
                    <a:pt x="2866587" y="0"/>
                  </a:lnTo>
                  <a:cubicBezTo>
                    <a:pt x="2881700" y="0"/>
                    <a:pt x="2893952" y="12252"/>
                    <a:pt x="2893952" y="27365"/>
                  </a:cubicBezTo>
                  <a:lnTo>
                    <a:pt x="2893952" y="1365575"/>
                  </a:lnTo>
                  <a:cubicBezTo>
                    <a:pt x="2893952" y="1372832"/>
                    <a:pt x="2891069" y="1379792"/>
                    <a:pt x="2885937" y="1384924"/>
                  </a:cubicBezTo>
                  <a:cubicBezTo>
                    <a:pt x="2880805" y="1390056"/>
                    <a:pt x="2873845" y="1392939"/>
                    <a:pt x="2866587" y="1392939"/>
                  </a:cubicBezTo>
                  <a:lnTo>
                    <a:pt x="27365" y="1392939"/>
                  </a:lnTo>
                  <a:cubicBezTo>
                    <a:pt x="12252" y="1392939"/>
                    <a:pt x="0" y="1380688"/>
                    <a:pt x="0" y="1365575"/>
                  </a:cubicBezTo>
                  <a:lnTo>
                    <a:pt x="0" y="27365"/>
                  </a:lnTo>
                  <a:cubicBezTo>
                    <a:pt x="0" y="12252"/>
                    <a:pt x="12252" y="0"/>
                    <a:pt x="27365" y="0"/>
                  </a:cubicBezTo>
                  <a:close/>
                </a:path>
              </a:pathLst>
            </a:custGeom>
            <a:solidFill>
              <a:srgbClr val="7E94B7"/>
            </a:solidFill>
            <a:ln w="66675" cap="rnd">
              <a:solidFill>
                <a:srgbClr val="000000"/>
              </a:solidFill>
              <a:prstDash val="solid"/>
              <a:round/>
            </a:ln>
          </p:spPr>
        </p:sp>
        <p:sp>
          <p:nvSpPr>
            <p:cNvPr name="TextBox 11" id="11"/>
            <p:cNvSpPr txBox="true"/>
            <p:nvPr/>
          </p:nvSpPr>
          <p:spPr>
            <a:xfrm>
              <a:off x="0" y="-38100"/>
              <a:ext cx="2893952" cy="1431039"/>
            </a:xfrm>
            <a:prstGeom prst="rect">
              <a:avLst/>
            </a:prstGeom>
          </p:spPr>
          <p:txBody>
            <a:bodyPr anchor="ctr" rtlCol="false" tIns="43298" lIns="43298" bIns="43298" rIns="43298"/>
            <a:lstStyle/>
            <a:p>
              <a:pPr algn="ctr">
                <a:lnSpc>
                  <a:spcPts val="2659"/>
                </a:lnSpc>
                <a:spcBef>
                  <a:spcPct val="0"/>
                </a:spcBef>
              </a:pPr>
            </a:p>
          </p:txBody>
        </p:sp>
      </p:grpSp>
      <p:sp>
        <p:nvSpPr>
          <p:cNvPr name="TextBox 12" id="12"/>
          <p:cNvSpPr txBox="true"/>
          <p:nvPr/>
        </p:nvSpPr>
        <p:spPr>
          <a:xfrm rot="0">
            <a:off x="2839835" y="3432722"/>
            <a:ext cx="12764477" cy="5541177"/>
          </a:xfrm>
          <a:prstGeom prst="rect">
            <a:avLst/>
          </a:prstGeom>
        </p:spPr>
        <p:txBody>
          <a:bodyPr anchor="t" rtlCol="false" tIns="0" lIns="0" bIns="0" rIns="0">
            <a:spAutoFit/>
          </a:bodyPr>
          <a:lstStyle/>
          <a:p>
            <a:pPr algn="l">
              <a:lnSpc>
                <a:spcPts val="4879"/>
              </a:lnSpc>
            </a:pPr>
            <a:r>
              <a:rPr lang="en-US" sz="3485">
                <a:solidFill>
                  <a:srgbClr val="000000"/>
                </a:solidFill>
                <a:latin typeface="Playpen Sans"/>
                <a:ea typeface="Playpen Sans"/>
                <a:cs typeface="Playpen Sans"/>
                <a:sym typeface="Playpen Sans"/>
              </a:rPr>
              <a:t>Look closely at: </a:t>
            </a:r>
          </a:p>
          <a:p>
            <a:pPr algn="l" marL="752466" indent="-376233" lvl="1">
              <a:lnSpc>
                <a:spcPts val="4879"/>
              </a:lnSpc>
              <a:buFont typeface="Arial"/>
              <a:buChar char="•"/>
            </a:pPr>
            <a:r>
              <a:rPr lang="en-US" sz="3485">
                <a:solidFill>
                  <a:srgbClr val="000000"/>
                </a:solidFill>
                <a:latin typeface="Playpen Sans"/>
                <a:ea typeface="Playpen Sans"/>
                <a:cs typeface="Playpen Sans"/>
                <a:sym typeface="Playpen Sans"/>
              </a:rPr>
              <a:t>Hands &amp; fingers: too many, too few, or bent wrong </a:t>
            </a:r>
          </a:p>
          <a:p>
            <a:pPr algn="l" marL="752466" indent="-376233" lvl="1">
              <a:lnSpc>
                <a:spcPts val="4879"/>
              </a:lnSpc>
              <a:buFont typeface="Arial"/>
              <a:buChar char="•"/>
            </a:pPr>
            <a:r>
              <a:rPr lang="en-US" sz="3485">
                <a:solidFill>
                  <a:srgbClr val="000000"/>
                </a:solidFill>
                <a:latin typeface="Playpen Sans"/>
                <a:ea typeface="Playpen Sans"/>
                <a:cs typeface="Playpen Sans"/>
                <a:sym typeface="Playpen Sans"/>
              </a:rPr>
              <a:t>Text &amp; symbols: letters that look l</a:t>
            </a:r>
            <a:r>
              <a:rPr lang="en-US" sz="3485">
                <a:solidFill>
                  <a:srgbClr val="000000"/>
                </a:solidFill>
                <a:latin typeface="Playpen Sans"/>
                <a:ea typeface="Playpen Sans"/>
                <a:cs typeface="Playpen Sans"/>
                <a:sym typeface="Playpen Sans"/>
              </a:rPr>
              <a:t>i</a:t>
            </a:r>
            <a:r>
              <a:rPr lang="en-US" sz="3485">
                <a:solidFill>
                  <a:srgbClr val="000000"/>
                </a:solidFill>
                <a:latin typeface="Playpen Sans"/>
                <a:ea typeface="Playpen Sans"/>
                <a:cs typeface="Playpen Sans"/>
                <a:sym typeface="Playpen Sans"/>
              </a:rPr>
              <a:t>ke </a:t>
            </a:r>
            <a:r>
              <a:rPr lang="en-US" sz="3485">
                <a:solidFill>
                  <a:srgbClr val="000000"/>
                </a:solidFill>
                <a:latin typeface="Playpen Sans"/>
                <a:ea typeface="Playpen Sans"/>
                <a:cs typeface="Playpen Sans"/>
                <a:sym typeface="Playpen Sans"/>
              </a:rPr>
              <a:t>s</a:t>
            </a:r>
            <a:r>
              <a:rPr lang="en-US" sz="3485">
                <a:solidFill>
                  <a:srgbClr val="000000"/>
                </a:solidFill>
                <a:latin typeface="Playpen Sans"/>
                <a:ea typeface="Playpen Sans"/>
                <a:cs typeface="Playpen Sans"/>
                <a:sym typeface="Playpen Sans"/>
              </a:rPr>
              <a:t>cribbles</a:t>
            </a:r>
            <a:r>
              <a:rPr lang="en-US" sz="3485">
                <a:solidFill>
                  <a:srgbClr val="000000"/>
                </a:solidFill>
                <a:latin typeface="Playpen Sans"/>
                <a:ea typeface="Playpen Sans"/>
                <a:cs typeface="Playpen Sans"/>
                <a:sym typeface="Playpen Sans"/>
              </a:rPr>
              <a:t> </a:t>
            </a:r>
            <a:r>
              <a:rPr lang="en-US" sz="3485">
                <a:solidFill>
                  <a:srgbClr val="000000"/>
                </a:solidFill>
                <a:latin typeface="Playpen Sans"/>
                <a:ea typeface="Playpen Sans"/>
                <a:cs typeface="Playpen Sans"/>
                <a:sym typeface="Playpen Sans"/>
              </a:rPr>
              <a:t>or g</a:t>
            </a:r>
            <a:r>
              <a:rPr lang="en-US" sz="3485">
                <a:solidFill>
                  <a:srgbClr val="000000"/>
                </a:solidFill>
                <a:latin typeface="Playpen Sans"/>
                <a:ea typeface="Playpen Sans"/>
                <a:cs typeface="Playpen Sans"/>
                <a:sym typeface="Playpen Sans"/>
              </a:rPr>
              <a:t>i</a:t>
            </a:r>
            <a:r>
              <a:rPr lang="en-US" sz="3485">
                <a:solidFill>
                  <a:srgbClr val="000000"/>
                </a:solidFill>
                <a:latin typeface="Playpen Sans"/>
                <a:ea typeface="Playpen Sans"/>
                <a:cs typeface="Playpen Sans"/>
                <a:sym typeface="Playpen Sans"/>
              </a:rPr>
              <a:t>bbe</a:t>
            </a:r>
            <a:r>
              <a:rPr lang="en-US" sz="3485">
                <a:solidFill>
                  <a:srgbClr val="000000"/>
                </a:solidFill>
                <a:latin typeface="Playpen Sans"/>
                <a:ea typeface="Playpen Sans"/>
                <a:cs typeface="Playpen Sans"/>
                <a:sym typeface="Playpen Sans"/>
              </a:rPr>
              <a:t>r</a:t>
            </a:r>
            <a:r>
              <a:rPr lang="en-US" sz="3485">
                <a:solidFill>
                  <a:srgbClr val="000000"/>
                </a:solidFill>
                <a:latin typeface="Playpen Sans"/>
                <a:ea typeface="Playpen Sans"/>
                <a:cs typeface="Playpen Sans"/>
                <a:sym typeface="Playpen Sans"/>
              </a:rPr>
              <a:t>ish</a:t>
            </a:r>
          </a:p>
          <a:p>
            <a:pPr algn="l" marL="752466" indent="-376233" lvl="1">
              <a:lnSpc>
                <a:spcPts val="4879"/>
              </a:lnSpc>
              <a:buFont typeface="Arial"/>
              <a:buChar char="•"/>
            </a:pPr>
            <a:r>
              <a:rPr lang="en-US" sz="3485">
                <a:solidFill>
                  <a:srgbClr val="000000"/>
                </a:solidFill>
                <a:latin typeface="Playpen Sans"/>
                <a:ea typeface="Playpen Sans"/>
                <a:cs typeface="Playpen Sans"/>
                <a:sym typeface="Playpen Sans"/>
              </a:rPr>
              <a:t>P</a:t>
            </a:r>
            <a:r>
              <a:rPr lang="en-US" sz="3485">
                <a:solidFill>
                  <a:srgbClr val="000000"/>
                </a:solidFill>
                <a:latin typeface="Playpen Sans"/>
                <a:ea typeface="Playpen Sans"/>
                <a:cs typeface="Playpen Sans"/>
                <a:sym typeface="Playpen Sans"/>
              </a:rPr>
              <a:t>atterns: </a:t>
            </a:r>
            <a:r>
              <a:rPr lang="en-US" sz="3485">
                <a:solidFill>
                  <a:srgbClr val="000000"/>
                </a:solidFill>
                <a:latin typeface="Playpen Sans"/>
                <a:ea typeface="Playpen Sans"/>
                <a:cs typeface="Playpen Sans"/>
                <a:sym typeface="Playpen Sans"/>
              </a:rPr>
              <a:t>things th</a:t>
            </a:r>
            <a:r>
              <a:rPr lang="en-US" sz="3485">
                <a:solidFill>
                  <a:srgbClr val="000000"/>
                </a:solidFill>
                <a:latin typeface="Playpen Sans"/>
                <a:ea typeface="Playpen Sans"/>
                <a:cs typeface="Playpen Sans"/>
                <a:sym typeface="Playpen Sans"/>
              </a:rPr>
              <a:t>a</a:t>
            </a:r>
            <a:r>
              <a:rPr lang="en-US" sz="3485">
                <a:solidFill>
                  <a:srgbClr val="000000"/>
                </a:solidFill>
                <a:latin typeface="Playpen Sans"/>
                <a:ea typeface="Playpen Sans"/>
                <a:cs typeface="Playpen Sans"/>
                <a:sym typeface="Playpen Sans"/>
              </a:rPr>
              <a:t>t </a:t>
            </a:r>
            <a:r>
              <a:rPr lang="en-US" sz="3485">
                <a:solidFill>
                  <a:srgbClr val="000000"/>
                </a:solidFill>
                <a:latin typeface="Playpen Sans"/>
                <a:ea typeface="Playpen Sans"/>
                <a:cs typeface="Playpen Sans"/>
                <a:sym typeface="Playpen Sans"/>
              </a:rPr>
              <a:t>r</a:t>
            </a:r>
            <a:r>
              <a:rPr lang="en-US" sz="3485">
                <a:solidFill>
                  <a:srgbClr val="000000"/>
                </a:solidFill>
                <a:latin typeface="Playpen Sans"/>
                <a:ea typeface="Playpen Sans"/>
                <a:cs typeface="Playpen Sans"/>
                <a:sym typeface="Playpen Sans"/>
              </a:rPr>
              <a:t>ep</a:t>
            </a:r>
            <a:r>
              <a:rPr lang="en-US" sz="3485">
                <a:solidFill>
                  <a:srgbClr val="000000"/>
                </a:solidFill>
                <a:latin typeface="Playpen Sans"/>
                <a:ea typeface="Playpen Sans"/>
                <a:cs typeface="Playpen Sans"/>
                <a:sym typeface="Playpen Sans"/>
              </a:rPr>
              <a:t>e</a:t>
            </a:r>
            <a:r>
              <a:rPr lang="en-US" sz="3485">
                <a:solidFill>
                  <a:srgbClr val="000000"/>
                </a:solidFill>
                <a:latin typeface="Playpen Sans"/>
                <a:ea typeface="Playpen Sans"/>
                <a:cs typeface="Playpen Sans"/>
                <a:sym typeface="Playpen Sans"/>
              </a:rPr>
              <a:t>at</a:t>
            </a:r>
            <a:r>
              <a:rPr lang="en-US" sz="3485">
                <a:solidFill>
                  <a:srgbClr val="000000"/>
                </a:solidFill>
                <a:latin typeface="Playpen Sans"/>
                <a:ea typeface="Playpen Sans"/>
                <a:cs typeface="Playpen Sans"/>
                <a:sym typeface="Playpen Sans"/>
              </a:rPr>
              <a:t> </a:t>
            </a:r>
            <a:r>
              <a:rPr lang="en-US" sz="3485">
                <a:solidFill>
                  <a:srgbClr val="000000"/>
                </a:solidFill>
                <a:latin typeface="Playpen Sans"/>
                <a:ea typeface="Playpen Sans"/>
                <a:cs typeface="Playpen Sans"/>
                <a:sym typeface="Playpen Sans"/>
              </a:rPr>
              <a:t>wei</a:t>
            </a:r>
            <a:r>
              <a:rPr lang="en-US" sz="3485">
                <a:solidFill>
                  <a:srgbClr val="000000"/>
                </a:solidFill>
                <a:latin typeface="Playpen Sans"/>
                <a:ea typeface="Playpen Sans"/>
                <a:cs typeface="Playpen Sans"/>
                <a:sym typeface="Playpen Sans"/>
              </a:rPr>
              <a:t>rd</a:t>
            </a:r>
            <a:r>
              <a:rPr lang="en-US" sz="3485">
                <a:solidFill>
                  <a:srgbClr val="000000"/>
                </a:solidFill>
                <a:latin typeface="Playpen Sans"/>
                <a:ea typeface="Playpen Sans"/>
                <a:cs typeface="Playpen Sans"/>
                <a:sym typeface="Playpen Sans"/>
              </a:rPr>
              <a:t>ly (ex</a:t>
            </a:r>
            <a:r>
              <a:rPr lang="en-US" sz="3485">
                <a:solidFill>
                  <a:srgbClr val="000000"/>
                </a:solidFill>
                <a:latin typeface="Playpen Sans"/>
                <a:ea typeface="Playpen Sans"/>
                <a:cs typeface="Playpen Sans"/>
                <a:sym typeface="Playpen Sans"/>
              </a:rPr>
              <a:t>t</a:t>
            </a:r>
            <a:r>
              <a:rPr lang="en-US" sz="3485">
                <a:solidFill>
                  <a:srgbClr val="000000"/>
                </a:solidFill>
                <a:latin typeface="Playpen Sans"/>
                <a:ea typeface="Playpen Sans"/>
                <a:cs typeface="Playpen Sans"/>
                <a:sym typeface="Playpen Sans"/>
              </a:rPr>
              <a:t>r</a:t>
            </a:r>
            <a:r>
              <a:rPr lang="en-US" sz="3485">
                <a:solidFill>
                  <a:srgbClr val="000000"/>
                </a:solidFill>
                <a:latin typeface="Playpen Sans"/>
                <a:ea typeface="Playpen Sans"/>
                <a:cs typeface="Playpen Sans"/>
                <a:sym typeface="Playpen Sans"/>
              </a:rPr>
              <a:t>a</a:t>
            </a:r>
            <a:r>
              <a:rPr lang="en-US" sz="3485">
                <a:solidFill>
                  <a:srgbClr val="000000"/>
                </a:solidFill>
                <a:latin typeface="Playpen Sans"/>
                <a:ea typeface="Playpen Sans"/>
                <a:cs typeface="Playpen Sans"/>
                <a:sym typeface="Playpen Sans"/>
              </a:rPr>
              <a:t> ch</a:t>
            </a:r>
            <a:r>
              <a:rPr lang="en-US" sz="3485">
                <a:solidFill>
                  <a:srgbClr val="000000"/>
                </a:solidFill>
                <a:latin typeface="Playpen Sans"/>
                <a:ea typeface="Playpen Sans"/>
                <a:cs typeface="Playpen Sans"/>
                <a:sym typeface="Playpen Sans"/>
              </a:rPr>
              <a:t>a</a:t>
            </a:r>
            <a:r>
              <a:rPr lang="en-US" sz="3485">
                <a:solidFill>
                  <a:srgbClr val="000000"/>
                </a:solidFill>
                <a:latin typeface="Playpen Sans"/>
                <a:ea typeface="Playpen Sans"/>
                <a:cs typeface="Playpen Sans"/>
                <a:sym typeface="Playpen Sans"/>
              </a:rPr>
              <a:t>ir </a:t>
            </a:r>
            <a:r>
              <a:rPr lang="en-US" sz="3485">
                <a:solidFill>
                  <a:srgbClr val="000000"/>
                </a:solidFill>
                <a:latin typeface="Playpen Sans"/>
                <a:ea typeface="Playpen Sans"/>
                <a:cs typeface="Playpen Sans"/>
                <a:sym typeface="Playpen Sans"/>
              </a:rPr>
              <a:t>l</a:t>
            </a:r>
            <a:r>
              <a:rPr lang="en-US" sz="3485">
                <a:solidFill>
                  <a:srgbClr val="000000"/>
                </a:solidFill>
                <a:latin typeface="Playpen Sans"/>
                <a:ea typeface="Playpen Sans"/>
                <a:cs typeface="Playpen Sans"/>
                <a:sym typeface="Playpen Sans"/>
              </a:rPr>
              <a:t>egs, do</a:t>
            </a:r>
            <a:r>
              <a:rPr lang="en-US" sz="3485">
                <a:solidFill>
                  <a:srgbClr val="000000"/>
                </a:solidFill>
                <a:latin typeface="Playpen Sans"/>
                <a:ea typeface="Playpen Sans"/>
                <a:cs typeface="Playpen Sans"/>
                <a:sym typeface="Playpen Sans"/>
              </a:rPr>
              <a:t>u</a:t>
            </a:r>
            <a:r>
              <a:rPr lang="en-US" sz="3485">
                <a:solidFill>
                  <a:srgbClr val="000000"/>
                </a:solidFill>
                <a:latin typeface="Playpen Sans"/>
                <a:ea typeface="Playpen Sans"/>
                <a:cs typeface="Playpen Sans"/>
                <a:sym typeface="Playpen Sans"/>
              </a:rPr>
              <a:t>bled obje</a:t>
            </a:r>
            <a:r>
              <a:rPr lang="en-US" sz="3485">
                <a:solidFill>
                  <a:srgbClr val="000000"/>
                </a:solidFill>
                <a:latin typeface="Playpen Sans"/>
                <a:ea typeface="Playpen Sans"/>
                <a:cs typeface="Playpen Sans"/>
                <a:sym typeface="Playpen Sans"/>
              </a:rPr>
              <a:t>ct</a:t>
            </a:r>
            <a:r>
              <a:rPr lang="en-US" sz="3485">
                <a:solidFill>
                  <a:srgbClr val="000000"/>
                </a:solidFill>
                <a:latin typeface="Playpen Sans"/>
                <a:ea typeface="Playpen Sans"/>
                <a:cs typeface="Playpen Sans"/>
                <a:sym typeface="Playpen Sans"/>
              </a:rPr>
              <a:t>s)</a:t>
            </a:r>
          </a:p>
          <a:p>
            <a:pPr algn="l" marL="752466" indent="-376233" lvl="1">
              <a:lnSpc>
                <a:spcPts val="4879"/>
              </a:lnSpc>
              <a:buFont typeface="Arial"/>
              <a:buChar char="•"/>
            </a:pPr>
            <a:r>
              <a:rPr lang="en-US" sz="3485">
                <a:solidFill>
                  <a:srgbClr val="000000"/>
                </a:solidFill>
                <a:latin typeface="Playpen Sans"/>
                <a:ea typeface="Playpen Sans"/>
                <a:cs typeface="Playpen Sans"/>
                <a:sym typeface="Playpen Sans"/>
              </a:rPr>
              <a:t>L</a:t>
            </a:r>
            <a:r>
              <a:rPr lang="en-US" sz="3485">
                <a:solidFill>
                  <a:srgbClr val="000000"/>
                </a:solidFill>
                <a:latin typeface="Playpen Sans"/>
                <a:ea typeface="Playpen Sans"/>
                <a:cs typeface="Playpen Sans"/>
                <a:sym typeface="Playpen Sans"/>
              </a:rPr>
              <a:t>i</a:t>
            </a:r>
            <a:r>
              <a:rPr lang="en-US" sz="3485">
                <a:solidFill>
                  <a:srgbClr val="000000"/>
                </a:solidFill>
                <a:latin typeface="Playpen Sans"/>
                <a:ea typeface="Playpen Sans"/>
                <a:cs typeface="Playpen Sans"/>
                <a:sym typeface="Playpen Sans"/>
              </a:rPr>
              <a:t>ght &amp; shad</a:t>
            </a:r>
            <a:r>
              <a:rPr lang="en-US" sz="3485">
                <a:solidFill>
                  <a:srgbClr val="000000"/>
                </a:solidFill>
                <a:latin typeface="Playpen Sans"/>
                <a:ea typeface="Playpen Sans"/>
                <a:cs typeface="Playpen Sans"/>
                <a:sym typeface="Playpen Sans"/>
              </a:rPr>
              <a:t>o</a:t>
            </a:r>
            <a:r>
              <a:rPr lang="en-US" sz="3485">
                <a:solidFill>
                  <a:srgbClr val="000000"/>
                </a:solidFill>
                <a:latin typeface="Playpen Sans"/>
                <a:ea typeface="Playpen Sans"/>
                <a:cs typeface="Playpen Sans"/>
                <a:sym typeface="Playpen Sans"/>
              </a:rPr>
              <a:t>w</a:t>
            </a:r>
            <a:r>
              <a:rPr lang="en-US" sz="3485">
                <a:solidFill>
                  <a:srgbClr val="000000"/>
                </a:solidFill>
                <a:latin typeface="Playpen Sans"/>
                <a:ea typeface="Playpen Sans"/>
                <a:cs typeface="Playpen Sans"/>
                <a:sym typeface="Playpen Sans"/>
              </a:rPr>
              <a:t>s: </a:t>
            </a:r>
            <a:r>
              <a:rPr lang="en-US" sz="3485">
                <a:solidFill>
                  <a:srgbClr val="000000"/>
                </a:solidFill>
                <a:latin typeface="Playpen Sans"/>
                <a:ea typeface="Playpen Sans"/>
                <a:cs typeface="Playpen Sans"/>
                <a:sym typeface="Playpen Sans"/>
              </a:rPr>
              <a:t>sh</a:t>
            </a:r>
            <a:r>
              <a:rPr lang="en-US" sz="3485">
                <a:solidFill>
                  <a:srgbClr val="000000"/>
                </a:solidFill>
                <a:latin typeface="Playpen Sans"/>
                <a:ea typeface="Playpen Sans"/>
                <a:cs typeface="Playpen Sans"/>
                <a:sym typeface="Playpen Sans"/>
              </a:rPr>
              <a:t>a</a:t>
            </a:r>
            <a:r>
              <a:rPr lang="en-US" sz="3485">
                <a:solidFill>
                  <a:srgbClr val="000000"/>
                </a:solidFill>
                <a:latin typeface="Playpen Sans"/>
                <a:ea typeface="Playpen Sans"/>
                <a:cs typeface="Playpen Sans"/>
                <a:sym typeface="Playpen Sans"/>
              </a:rPr>
              <a:t>dows go</a:t>
            </a:r>
            <a:r>
              <a:rPr lang="en-US" sz="3485">
                <a:solidFill>
                  <a:srgbClr val="000000"/>
                </a:solidFill>
                <a:latin typeface="Playpen Sans"/>
                <a:ea typeface="Playpen Sans"/>
                <a:cs typeface="Playpen Sans"/>
                <a:sym typeface="Playpen Sans"/>
              </a:rPr>
              <a:t>ing t</a:t>
            </a:r>
            <a:r>
              <a:rPr lang="en-US" sz="3485">
                <a:solidFill>
                  <a:srgbClr val="000000"/>
                </a:solidFill>
                <a:latin typeface="Playpen Sans"/>
                <a:ea typeface="Playpen Sans"/>
                <a:cs typeface="Playpen Sans"/>
                <a:sym typeface="Playpen Sans"/>
              </a:rPr>
              <a:t>he wr</a:t>
            </a:r>
            <a:r>
              <a:rPr lang="en-US" sz="3485">
                <a:solidFill>
                  <a:srgbClr val="000000"/>
                </a:solidFill>
                <a:latin typeface="Playpen Sans"/>
                <a:ea typeface="Playpen Sans"/>
                <a:cs typeface="Playpen Sans"/>
                <a:sym typeface="Playpen Sans"/>
              </a:rPr>
              <a:t>on</a:t>
            </a:r>
            <a:r>
              <a:rPr lang="en-US" sz="3485">
                <a:solidFill>
                  <a:srgbClr val="000000"/>
                </a:solidFill>
                <a:latin typeface="Playpen Sans"/>
                <a:ea typeface="Playpen Sans"/>
                <a:cs typeface="Playpen Sans"/>
                <a:sym typeface="Playpen Sans"/>
              </a:rPr>
              <a:t>g</a:t>
            </a:r>
            <a:r>
              <a:rPr lang="en-US" sz="3485">
                <a:solidFill>
                  <a:srgbClr val="000000"/>
                </a:solidFill>
                <a:latin typeface="Playpen Sans"/>
                <a:ea typeface="Playpen Sans"/>
                <a:cs typeface="Playpen Sans"/>
                <a:sym typeface="Playpen Sans"/>
              </a:rPr>
              <a:t> </a:t>
            </a:r>
            <a:r>
              <a:rPr lang="en-US" sz="3485">
                <a:solidFill>
                  <a:srgbClr val="000000"/>
                </a:solidFill>
                <a:latin typeface="Playpen Sans"/>
                <a:ea typeface="Playpen Sans"/>
                <a:cs typeface="Playpen Sans"/>
                <a:sym typeface="Playpen Sans"/>
              </a:rPr>
              <a:t>way, or m</a:t>
            </a:r>
            <a:r>
              <a:rPr lang="en-US" sz="3485">
                <a:solidFill>
                  <a:srgbClr val="000000"/>
                </a:solidFill>
                <a:latin typeface="Playpen Sans"/>
                <a:ea typeface="Playpen Sans"/>
                <a:cs typeface="Playpen Sans"/>
                <a:sym typeface="Playpen Sans"/>
              </a:rPr>
              <a:t>is</a:t>
            </a:r>
            <a:r>
              <a:rPr lang="en-US" sz="3485">
                <a:solidFill>
                  <a:srgbClr val="000000"/>
                </a:solidFill>
                <a:latin typeface="Playpen Sans"/>
                <a:ea typeface="Playpen Sans"/>
                <a:cs typeface="Playpen Sans"/>
                <a:sym typeface="Playpen Sans"/>
              </a:rPr>
              <a:t>si</a:t>
            </a:r>
            <a:r>
              <a:rPr lang="en-US" sz="3485">
                <a:solidFill>
                  <a:srgbClr val="000000"/>
                </a:solidFill>
                <a:latin typeface="Playpen Sans"/>
                <a:ea typeface="Playpen Sans"/>
                <a:cs typeface="Playpen Sans"/>
                <a:sym typeface="Playpen Sans"/>
              </a:rPr>
              <a:t>n</a:t>
            </a:r>
            <a:r>
              <a:rPr lang="en-US" sz="3485">
                <a:solidFill>
                  <a:srgbClr val="000000"/>
                </a:solidFill>
                <a:latin typeface="Playpen Sans"/>
                <a:ea typeface="Playpen Sans"/>
                <a:cs typeface="Playpen Sans"/>
                <a:sym typeface="Playpen Sans"/>
              </a:rPr>
              <a:t>g</a:t>
            </a:r>
          </a:p>
          <a:p>
            <a:pPr algn="l" marL="752466" indent="-376233" lvl="1">
              <a:lnSpc>
                <a:spcPts val="4879"/>
              </a:lnSpc>
              <a:buFont typeface="Arial"/>
              <a:buChar char="•"/>
            </a:pPr>
            <a:r>
              <a:rPr lang="en-US" sz="3485">
                <a:solidFill>
                  <a:srgbClr val="000000"/>
                </a:solidFill>
                <a:latin typeface="Playpen Sans"/>
                <a:ea typeface="Playpen Sans"/>
                <a:cs typeface="Playpen Sans"/>
                <a:sym typeface="Playpen Sans"/>
              </a:rPr>
              <a:t>E</a:t>
            </a:r>
            <a:r>
              <a:rPr lang="en-US" sz="3485">
                <a:solidFill>
                  <a:srgbClr val="000000"/>
                </a:solidFill>
                <a:latin typeface="Playpen Sans"/>
                <a:ea typeface="Playpen Sans"/>
                <a:cs typeface="Playpen Sans"/>
                <a:sym typeface="Playpen Sans"/>
              </a:rPr>
              <a:t>d</a:t>
            </a:r>
            <a:r>
              <a:rPr lang="en-US" sz="3485">
                <a:solidFill>
                  <a:srgbClr val="000000"/>
                </a:solidFill>
                <a:latin typeface="Playpen Sans"/>
                <a:ea typeface="Playpen Sans"/>
                <a:cs typeface="Playpen Sans"/>
                <a:sym typeface="Playpen Sans"/>
              </a:rPr>
              <a:t>g</a:t>
            </a:r>
            <a:r>
              <a:rPr lang="en-US" sz="3485">
                <a:solidFill>
                  <a:srgbClr val="000000"/>
                </a:solidFill>
                <a:latin typeface="Playpen Sans"/>
                <a:ea typeface="Playpen Sans"/>
                <a:cs typeface="Playpen Sans"/>
                <a:sym typeface="Playpen Sans"/>
              </a:rPr>
              <a:t>es: </a:t>
            </a:r>
            <a:r>
              <a:rPr lang="en-US" sz="3485">
                <a:solidFill>
                  <a:srgbClr val="000000"/>
                </a:solidFill>
                <a:latin typeface="Playpen Sans"/>
                <a:ea typeface="Playpen Sans"/>
                <a:cs typeface="Playpen Sans"/>
                <a:sym typeface="Playpen Sans"/>
              </a:rPr>
              <a:t>blurry or mel</a:t>
            </a:r>
            <a:r>
              <a:rPr lang="en-US" sz="3485">
                <a:solidFill>
                  <a:srgbClr val="000000"/>
                </a:solidFill>
                <a:latin typeface="Playpen Sans"/>
                <a:ea typeface="Playpen Sans"/>
                <a:cs typeface="Playpen Sans"/>
                <a:sym typeface="Playpen Sans"/>
              </a:rPr>
              <a:t>t</a:t>
            </a:r>
            <a:r>
              <a:rPr lang="en-US" sz="3485">
                <a:solidFill>
                  <a:srgbClr val="000000"/>
                </a:solidFill>
                <a:latin typeface="Playpen Sans"/>
                <a:ea typeface="Playpen Sans"/>
                <a:cs typeface="Playpen Sans"/>
                <a:sym typeface="Playpen Sans"/>
              </a:rPr>
              <a:t>e</a:t>
            </a:r>
            <a:r>
              <a:rPr lang="en-US" sz="3485">
                <a:solidFill>
                  <a:srgbClr val="000000"/>
                </a:solidFill>
                <a:latin typeface="Playpen Sans"/>
                <a:ea typeface="Playpen Sans"/>
                <a:cs typeface="Playpen Sans"/>
                <a:sym typeface="Playpen Sans"/>
              </a:rPr>
              <a:t>d</a:t>
            </a:r>
            <a:r>
              <a:rPr lang="en-US" sz="3485">
                <a:solidFill>
                  <a:srgbClr val="000000"/>
                </a:solidFill>
                <a:latin typeface="Playpen Sans"/>
                <a:ea typeface="Playpen Sans"/>
                <a:cs typeface="Playpen Sans"/>
                <a:sym typeface="Playpen Sans"/>
              </a:rPr>
              <a:t>-look</a:t>
            </a:r>
            <a:r>
              <a:rPr lang="en-US" sz="3485">
                <a:solidFill>
                  <a:srgbClr val="000000"/>
                </a:solidFill>
                <a:latin typeface="Playpen Sans"/>
                <a:ea typeface="Playpen Sans"/>
                <a:cs typeface="Playpen Sans"/>
                <a:sym typeface="Playpen Sans"/>
              </a:rPr>
              <a:t>ing </a:t>
            </a:r>
            <a:r>
              <a:rPr lang="en-US" sz="3485">
                <a:solidFill>
                  <a:srgbClr val="000000"/>
                </a:solidFill>
                <a:latin typeface="Playpen Sans"/>
                <a:ea typeface="Playpen Sans"/>
                <a:cs typeface="Playpen Sans"/>
                <a:sym typeface="Playpen Sans"/>
              </a:rPr>
              <a:t>where tw</a:t>
            </a:r>
            <a:r>
              <a:rPr lang="en-US" sz="3485">
                <a:solidFill>
                  <a:srgbClr val="000000"/>
                </a:solidFill>
                <a:latin typeface="Playpen Sans"/>
                <a:ea typeface="Playpen Sans"/>
                <a:cs typeface="Playpen Sans"/>
                <a:sym typeface="Playpen Sans"/>
              </a:rPr>
              <a:t>o</a:t>
            </a:r>
            <a:r>
              <a:rPr lang="en-US" sz="3485">
                <a:solidFill>
                  <a:srgbClr val="000000"/>
                </a:solidFill>
                <a:latin typeface="Playpen Sans"/>
                <a:ea typeface="Playpen Sans"/>
                <a:cs typeface="Playpen Sans"/>
                <a:sym typeface="Playpen Sans"/>
              </a:rPr>
              <a:t> </a:t>
            </a:r>
            <a:r>
              <a:rPr lang="en-US" sz="3485">
                <a:solidFill>
                  <a:srgbClr val="000000"/>
                </a:solidFill>
                <a:latin typeface="Playpen Sans"/>
                <a:ea typeface="Playpen Sans"/>
                <a:cs typeface="Playpen Sans"/>
                <a:sym typeface="Playpen Sans"/>
              </a:rPr>
              <a:t>t</a:t>
            </a:r>
            <a:r>
              <a:rPr lang="en-US" sz="3485">
                <a:solidFill>
                  <a:srgbClr val="000000"/>
                </a:solidFill>
                <a:latin typeface="Playpen Sans"/>
                <a:ea typeface="Playpen Sans"/>
                <a:cs typeface="Playpen Sans"/>
                <a:sym typeface="Playpen Sans"/>
              </a:rPr>
              <a:t>hings m</a:t>
            </a:r>
            <a:r>
              <a:rPr lang="en-US" sz="3485">
                <a:solidFill>
                  <a:srgbClr val="000000"/>
                </a:solidFill>
                <a:latin typeface="Playpen Sans"/>
                <a:ea typeface="Playpen Sans"/>
                <a:cs typeface="Playpen Sans"/>
                <a:sym typeface="Playpen Sans"/>
              </a:rPr>
              <a:t>e</a:t>
            </a:r>
            <a:r>
              <a:rPr lang="en-US" sz="3485">
                <a:solidFill>
                  <a:srgbClr val="000000"/>
                </a:solidFill>
                <a:latin typeface="Playpen Sans"/>
                <a:ea typeface="Playpen Sans"/>
                <a:cs typeface="Playpen Sans"/>
                <a:sym typeface="Playpen Sans"/>
              </a:rPr>
              <a:t>e</a:t>
            </a:r>
            <a:r>
              <a:rPr lang="en-US" sz="3485">
                <a:solidFill>
                  <a:srgbClr val="000000"/>
                </a:solidFill>
                <a:latin typeface="Playpen Sans"/>
                <a:ea typeface="Playpen Sans"/>
                <a:cs typeface="Playpen Sans"/>
                <a:sym typeface="Playpen Sans"/>
              </a:rPr>
              <a:t>t</a:t>
            </a:r>
          </a:p>
        </p:txBody>
      </p:sp>
      <p:sp>
        <p:nvSpPr>
          <p:cNvPr name="TextBox 13" id="13"/>
          <p:cNvSpPr txBox="true"/>
          <p:nvPr/>
        </p:nvSpPr>
        <p:spPr>
          <a:xfrm rot="0">
            <a:off x="2950611" y="770425"/>
            <a:ext cx="12386777" cy="1316432"/>
          </a:xfrm>
          <a:prstGeom prst="rect">
            <a:avLst/>
          </a:prstGeom>
        </p:spPr>
        <p:txBody>
          <a:bodyPr anchor="t" rtlCol="false" tIns="0" lIns="0" bIns="0" rIns="0">
            <a:spAutoFit/>
          </a:bodyPr>
          <a:lstStyle/>
          <a:p>
            <a:pPr algn="ctr">
              <a:lnSpc>
                <a:spcPts val="10623"/>
              </a:lnSpc>
            </a:pPr>
            <a:r>
              <a:rPr lang="en-US" sz="7588">
                <a:solidFill>
                  <a:srgbClr val="FFFFFF"/>
                </a:solidFill>
                <a:latin typeface="Bobby Jones Soft"/>
                <a:ea typeface="Bobby Jones Soft"/>
                <a:cs typeface="Bobby Jones Soft"/>
                <a:sym typeface="Bobby Jones Soft"/>
              </a:rPr>
              <a:t>How to Spot an AI Picture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017676" y="-3472343"/>
            <a:ext cx="28522686" cy="17690609"/>
            <a:chOff x="0" y="0"/>
            <a:chExt cx="38030249" cy="23587479"/>
          </a:xfrm>
        </p:grpSpPr>
        <p:sp>
          <p:nvSpPr>
            <p:cNvPr name="Freeform 3" id="3"/>
            <p:cNvSpPr/>
            <p:nvPr/>
          </p:nvSpPr>
          <p:spPr>
            <a:xfrm flipH="false" flipV="false" rot="-3078662">
              <a:off x="28344458" y="1758027"/>
              <a:ext cx="8212438" cy="7719692"/>
            </a:xfrm>
            <a:custGeom>
              <a:avLst/>
              <a:gdLst/>
              <a:ahLst/>
              <a:cxnLst/>
              <a:rect r="r" b="b" t="t" l="l"/>
              <a:pathLst>
                <a:path h="7719692" w="8212438">
                  <a:moveTo>
                    <a:pt x="0" y="0"/>
                  </a:moveTo>
                  <a:lnTo>
                    <a:pt x="8212438" y="0"/>
                  </a:lnTo>
                  <a:lnTo>
                    <a:pt x="8212438" y="7719692"/>
                  </a:lnTo>
                  <a:lnTo>
                    <a:pt x="0" y="77196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3859461">
              <a:off x="1151636" y="2141545"/>
              <a:ext cx="8212438" cy="7719692"/>
            </a:xfrm>
            <a:custGeom>
              <a:avLst/>
              <a:gdLst/>
              <a:ahLst/>
              <a:cxnLst/>
              <a:rect r="r" b="b" t="t" l="l"/>
              <a:pathLst>
                <a:path h="7719692" w="8212438">
                  <a:moveTo>
                    <a:pt x="0" y="0"/>
                  </a:moveTo>
                  <a:lnTo>
                    <a:pt x="8212439" y="0"/>
                  </a:lnTo>
                  <a:lnTo>
                    <a:pt x="8212439" y="7719692"/>
                  </a:lnTo>
                  <a:lnTo>
                    <a:pt x="0" y="77196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3955616" y="15867787"/>
              <a:ext cx="8212438" cy="7719692"/>
            </a:xfrm>
            <a:custGeom>
              <a:avLst/>
              <a:gdLst/>
              <a:ahLst/>
              <a:cxnLst/>
              <a:rect r="r" b="b" t="t" l="l"/>
              <a:pathLst>
                <a:path h="7719692" w="8212438">
                  <a:moveTo>
                    <a:pt x="0" y="0"/>
                  </a:moveTo>
                  <a:lnTo>
                    <a:pt x="8212438" y="0"/>
                  </a:lnTo>
                  <a:lnTo>
                    <a:pt x="8212438" y="7719692"/>
                  </a:lnTo>
                  <a:lnTo>
                    <a:pt x="0" y="77196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4769298">
              <a:off x="28563147" y="14168419"/>
              <a:ext cx="8212438" cy="7719692"/>
            </a:xfrm>
            <a:custGeom>
              <a:avLst/>
              <a:gdLst/>
              <a:ahLst/>
              <a:cxnLst/>
              <a:rect r="r" b="b" t="t" l="l"/>
              <a:pathLst>
                <a:path h="7719692" w="8212438">
                  <a:moveTo>
                    <a:pt x="0" y="0"/>
                  </a:moveTo>
                  <a:lnTo>
                    <a:pt x="8212438" y="0"/>
                  </a:lnTo>
                  <a:lnTo>
                    <a:pt x="8212438" y="7719692"/>
                  </a:lnTo>
                  <a:lnTo>
                    <a:pt x="0" y="77196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3390759" y="5114700"/>
              <a:ext cx="10268453" cy="3309604"/>
              <a:chOff x="0" y="0"/>
              <a:chExt cx="2379790" cy="767025"/>
            </a:xfrm>
          </p:grpSpPr>
          <p:sp>
            <p:nvSpPr>
              <p:cNvPr name="Freeform 8" id="8"/>
              <p:cNvSpPr/>
              <p:nvPr/>
            </p:nvSpPr>
            <p:spPr>
              <a:xfrm flipH="false" flipV="false" rot="0">
                <a:off x="0" y="0"/>
                <a:ext cx="2379790" cy="767025"/>
              </a:xfrm>
              <a:custGeom>
                <a:avLst/>
                <a:gdLst/>
                <a:ahLst/>
                <a:cxnLst/>
                <a:rect r="r" b="b" t="t" l="l"/>
                <a:pathLst>
                  <a:path h="767025" w="2379790">
                    <a:moveTo>
                      <a:pt x="51269" y="0"/>
                    </a:moveTo>
                    <a:lnTo>
                      <a:pt x="2328521" y="0"/>
                    </a:lnTo>
                    <a:cubicBezTo>
                      <a:pt x="2342118" y="0"/>
                      <a:pt x="2355159" y="5402"/>
                      <a:pt x="2364773" y="15016"/>
                    </a:cubicBezTo>
                    <a:cubicBezTo>
                      <a:pt x="2374388" y="24631"/>
                      <a:pt x="2379790" y="37671"/>
                      <a:pt x="2379790" y="51269"/>
                    </a:cubicBezTo>
                    <a:lnTo>
                      <a:pt x="2379790" y="715756"/>
                    </a:lnTo>
                    <a:cubicBezTo>
                      <a:pt x="2379790" y="744071"/>
                      <a:pt x="2356836" y="767025"/>
                      <a:pt x="2328521" y="767025"/>
                    </a:cubicBezTo>
                    <a:lnTo>
                      <a:pt x="51269" y="767025"/>
                    </a:lnTo>
                    <a:cubicBezTo>
                      <a:pt x="22954" y="767025"/>
                      <a:pt x="0" y="744071"/>
                      <a:pt x="0" y="715756"/>
                    </a:cubicBezTo>
                    <a:lnTo>
                      <a:pt x="0" y="51269"/>
                    </a:lnTo>
                    <a:cubicBezTo>
                      <a:pt x="0" y="22954"/>
                      <a:pt x="22954" y="0"/>
                      <a:pt x="51269" y="0"/>
                    </a:cubicBezTo>
                    <a:close/>
                  </a:path>
                </a:pathLst>
              </a:custGeom>
              <a:solidFill>
                <a:srgbClr val="ED9D9D"/>
              </a:solidFill>
              <a:ln w="66675" cap="rnd">
                <a:solidFill>
                  <a:srgbClr val="000000"/>
                </a:solidFill>
                <a:prstDash val="solid"/>
                <a:round/>
              </a:ln>
            </p:spPr>
          </p:sp>
          <p:sp>
            <p:nvSpPr>
              <p:cNvPr name="TextBox 9" id="9"/>
              <p:cNvSpPr txBox="true"/>
              <p:nvPr/>
            </p:nvSpPr>
            <p:spPr>
              <a:xfrm>
                <a:off x="0" y="-38100"/>
                <a:ext cx="2379790" cy="805125"/>
              </a:xfrm>
              <a:prstGeom prst="rect">
                <a:avLst/>
              </a:prstGeom>
            </p:spPr>
            <p:txBody>
              <a:bodyPr anchor="ctr" rtlCol="false" tIns="43298" lIns="43298" bIns="43298" rIns="43298"/>
              <a:lstStyle/>
              <a:p>
                <a:pPr algn="ctr">
                  <a:lnSpc>
                    <a:spcPts val="2659"/>
                  </a:lnSpc>
                  <a:spcBef>
                    <a:spcPct val="0"/>
                  </a:spcBef>
                </a:pPr>
              </a:p>
            </p:txBody>
          </p:sp>
        </p:grpSp>
        <p:sp>
          <p:nvSpPr>
            <p:cNvPr name="TextBox 10" id="10"/>
            <p:cNvSpPr txBox="true"/>
            <p:nvPr/>
          </p:nvSpPr>
          <p:spPr>
            <a:xfrm rot="0">
              <a:off x="12074934" y="5531187"/>
              <a:ext cx="12900103" cy="2257556"/>
            </a:xfrm>
            <a:prstGeom prst="rect">
              <a:avLst/>
            </a:prstGeom>
          </p:spPr>
          <p:txBody>
            <a:bodyPr anchor="t" rtlCol="false" tIns="0" lIns="0" bIns="0" rIns="0">
              <a:spAutoFit/>
            </a:bodyPr>
            <a:lstStyle/>
            <a:p>
              <a:pPr algn="ctr">
                <a:lnSpc>
                  <a:spcPts val="14067"/>
                </a:lnSpc>
              </a:pPr>
              <a:r>
                <a:rPr lang="en-US" sz="10048">
                  <a:solidFill>
                    <a:srgbClr val="FFFFFF"/>
                  </a:solidFill>
                  <a:latin typeface="Bobby Jones Soft"/>
                  <a:ea typeface="Bobby Jones Soft"/>
                  <a:cs typeface="Bobby Jones Soft"/>
                  <a:sym typeface="Bobby Jones Soft"/>
                </a:rPr>
                <a:t>Examples</a:t>
              </a:r>
            </a:p>
          </p:txBody>
        </p:sp>
      </p:grpSp>
      <p:sp>
        <p:nvSpPr>
          <p:cNvPr name="Freeform 11" id="11"/>
          <p:cNvSpPr/>
          <p:nvPr/>
        </p:nvSpPr>
        <p:spPr>
          <a:xfrm flipH="false" flipV="false" rot="0">
            <a:off x="1028700" y="3136266"/>
            <a:ext cx="9160191" cy="5589269"/>
          </a:xfrm>
          <a:custGeom>
            <a:avLst/>
            <a:gdLst/>
            <a:ahLst/>
            <a:cxnLst/>
            <a:rect r="r" b="b" t="t" l="l"/>
            <a:pathLst>
              <a:path h="5589269" w="9160191">
                <a:moveTo>
                  <a:pt x="0" y="0"/>
                </a:moveTo>
                <a:lnTo>
                  <a:pt x="9160191" y="0"/>
                </a:lnTo>
                <a:lnTo>
                  <a:pt x="9160191" y="5589268"/>
                </a:lnTo>
                <a:lnTo>
                  <a:pt x="0" y="5589268"/>
                </a:lnTo>
                <a:lnTo>
                  <a:pt x="0" y="0"/>
                </a:lnTo>
                <a:close/>
              </a:path>
            </a:pathLst>
          </a:custGeom>
          <a:blipFill>
            <a:blip r:embed="rId6"/>
            <a:stretch>
              <a:fillRect l="0" t="0" r="0" b="0"/>
            </a:stretch>
          </a:blipFill>
        </p:spPr>
      </p:sp>
      <p:sp>
        <p:nvSpPr>
          <p:cNvPr name="Freeform 12" id="12"/>
          <p:cNvSpPr/>
          <p:nvPr/>
        </p:nvSpPr>
        <p:spPr>
          <a:xfrm flipH="false" flipV="false" rot="0">
            <a:off x="11813141" y="2927061"/>
            <a:ext cx="4770917" cy="6972879"/>
          </a:xfrm>
          <a:custGeom>
            <a:avLst/>
            <a:gdLst/>
            <a:ahLst/>
            <a:cxnLst/>
            <a:rect r="r" b="b" t="t" l="l"/>
            <a:pathLst>
              <a:path h="6972879" w="4770917">
                <a:moveTo>
                  <a:pt x="0" y="0"/>
                </a:moveTo>
                <a:lnTo>
                  <a:pt x="4770918" y="0"/>
                </a:lnTo>
                <a:lnTo>
                  <a:pt x="4770918" y="6972878"/>
                </a:lnTo>
                <a:lnTo>
                  <a:pt x="0" y="6972878"/>
                </a:lnTo>
                <a:lnTo>
                  <a:pt x="0" y="0"/>
                </a:lnTo>
                <a:close/>
              </a:path>
            </a:pathLst>
          </a:custGeom>
          <a:blipFill>
            <a:blip r:embed="rId7"/>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989101" y="-3472343"/>
            <a:ext cx="28522686" cy="17690609"/>
            <a:chOff x="0" y="0"/>
            <a:chExt cx="38030249" cy="23587479"/>
          </a:xfrm>
        </p:grpSpPr>
        <p:sp>
          <p:nvSpPr>
            <p:cNvPr name="Freeform 3" id="3"/>
            <p:cNvSpPr/>
            <p:nvPr/>
          </p:nvSpPr>
          <p:spPr>
            <a:xfrm flipH="false" flipV="false" rot="-3078662">
              <a:off x="28344458" y="1758027"/>
              <a:ext cx="8212438" cy="7719692"/>
            </a:xfrm>
            <a:custGeom>
              <a:avLst/>
              <a:gdLst/>
              <a:ahLst/>
              <a:cxnLst/>
              <a:rect r="r" b="b" t="t" l="l"/>
              <a:pathLst>
                <a:path h="7719692" w="8212438">
                  <a:moveTo>
                    <a:pt x="0" y="0"/>
                  </a:moveTo>
                  <a:lnTo>
                    <a:pt x="8212438" y="0"/>
                  </a:lnTo>
                  <a:lnTo>
                    <a:pt x="8212438" y="7719692"/>
                  </a:lnTo>
                  <a:lnTo>
                    <a:pt x="0" y="77196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3859461">
              <a:off x="1151636" y="2141545"/>
              <a:ext cx="8212438" cy="7719692"/>
            </a:xfrm>
            <a:custGeom>
              <a:avLst/>
              <a:gdLst/>
              <a:ahLst/>
              <a:cxnLst/>
              <a:rect r="r" b="b" t="t" l="l"/>
              <a:pathLst>
                <a:path h="7719692" w="8212438">
                  <a:moveTo>
                    <a:pt x="0" y="0"/>
                  </a:moveTo>
                  <a:lnTo>
                    <a:pt x="8212439" y="0"/>
                  </a:lnTo>
                  <a:lnTo>
                    <a:pt x="8212439" y="7719692"/>
                  </a:lnTo>
                  <a:lnTo>
                    <a:pt x="0" y="77196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3955616" y="15867787"/>
              <a:ext cx="8212438" cy="7719692"/>
            </a:xfrm>
            <a:custGeom>
              <a:avLst/>
              <a:gdLst/>
              <a:ahLst/>
              <a:cxnLst/>
              <a:rect r="r" b="b" t="t" l="l"/>
              <a:pathLst>
                <a:path h="7719692" w="8212438">
                  <a:moveTo>
                    <a:pt x="0" y="0"/>
                  </a:moveTo>
                  <a:lnTo>
                    <a:pt x="8212438" y="0"/>
                  </a:lnTo>
                  <a:lnTo>
                    <a:pt x="8212438" y="7719692"/>
                  </a:lnTo>
                  <a:lnTo>
                    <a:pt x="0" y="77196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4769298">
              <a:off x="28563147" y="14168419"/>
              <a:ext cx="8212438" cy="7719692"/>
            </a:xfrm>
            <a:custGeom>
              <a:avLst/>
              <a:gdLst/>
              <a:ahLst/>
              <a:cxnLst/>
              <a:rect r="r" b="b" t="t" l="l"/>
              <a:pathLst>
                <a:path h="7719692" w="8212438">
                  <a:moveTo>
                    <a:pt x="0" y="0"/>
                  </a:moveTo>
                  <a:lnTo>
                    <a:pt x="8212438" y="0"/>
                  </a:lnTo>
                  <a:lnTo>
                    <a:pt x="8212438" y="7719692"/>
                  </a:lnTo>
                  <a:lnTo>
                    <a:pt x="0" y="77196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3390759" y="5114700"/>
              <a:ext cx="10268453" cy="3309604"/>
              <a:chOff x="0" y="0"/>
              <a:chExt cx="2379790" cy="767025"/>
            </a:xfrm>
          </p:grpSpPr>
          <p:sp>
            <p:nvSpPr>
              <p:cNvPr name="Freeform 8" id="8"/>
              <p:cNvSpPr/>
              <p:nvPr/>
            </p:nvSpPr>
            <p:spPr>
              <a:xfrm flipH="false" flipV="false" rot="0">
                <a:off x="0" y="0"/>
                <a:ext cx="2379790" cy="767025"/>
              </a:xfrm>
              <a:custGeom>
                <a:avLst/>
                <a:gdLst/>
                <a:ahLst/>
                <a:cxnLst/>
                <a:rect r="r" b="b" t="t" l="l"/>
                <a:pathLst>
                  <a:path h="767025" w="2379790">
                    <a:moveTo>
                      <a:pt x="51269" y="0"/>
                    </a:moveTo>
                    <a:lnTo>
                      <a:pt x="2328521" y="0"/>
                    </a:lnTo>
                    <a:cubicBezTo>
                      <a:pt x="2342118" y="0"/>
                      <a:pt x="2355159" y="5402"/>
                      <a:pt x="2364773" y="15016"/>
                    </a:cubicBezTo>
                    <a:cubicBezTo>
                      <a:pt x="2374388" y="24631"/>
                      <a:pt x="2379790" y="37671"/>
                      <a:pt x="2379790" y="51269"/>
                    </a:cubicBezTo>
                    <a:lnTo>
                      <a:pt x="2379790" y="715756"/>
                    </a:lnTo>
                    <a:cubicBezTo>
                      <a:pt x="2379790" y="744071"/>
                      <a:pt x="2356836" y="767025"/>
                      <a:pt x="2328521" y="767025"/>
                    </a:cubicBezTo>
                    <a:lnTo>
                      <a:pt x="51269" y="767025"/>
                    </a:lnTo>
                    <a:cubicBezTo>
                      <a:pt x="22954" y="767025"/>
                      <a:pt x="0" y="744071"/>
                      <a:pt x="0" y="715756"/>
                    </a:cubicBezTo>
                    <a:lnTo>
                      <a:pt x="0" y="51269"/>
                    </a:lnTo>
                    <a:cubicBezTo>
                      <a:pt x="0" y="22954"/>
                      <a:pt x="22954" y="0"/>
                      <a:pt x="51269" y="0"/>
                    </a:cubicBezTo>
                    <a:close/>
                  </a:path>
                </a:pathLst>
              </a:custGeom>
              <a:solidFill>
                <a:srgbClr val="ED9D9D"/>
              </a:solidFill>
              <a:ln w="66675" cap="rnd">
                <a:solidFill>
                  <a:srgbClr val="000000"/>
                </a:solidFill>
                <a:prstDash val="solid"/>
                <a:round/>
              </a:ln>
            </p:spPr>
          </p:sp>
          <p:sp>
            <p:nvSpPr>
              <p:cNvPr name="TextBox 9" id="9"/>
              <p:cNvSpPr txBox="true"/>
              <p:nvPr/>
            </p:nvSpPr>
            <p:spPr>
              <a:xfrm>
                <a:off x="0" y="-38100"/>
                <a:ext cx="2379790" cy="805125"/>
              </a:xfrm>
              <a:prstGeom prst="rect">
                <a:avLst/>
              </a:prstGeom>
            </p:spPr>
            <p:txBody>
              <a:bodyPr anchor="ctr" rtlCol="false" tIns="43298" lIns="43298" bIns="43298" rIns="43298"/>
              <a:lstStyle/>
              <a:p>
                <a:pPr algn="ctr">
                  <a:lnSpc>
                    <a:spcPts val="2659"/>
                  </a:lnSpc>
                  <a:spcBef>
                    <a:spcPct val="0"/>
                  </a:spcBef>
                </a:pPr>
              </a:p>
            </p:txBody>
          </p:sp>
        </p:grpSp>
        <p:sp>
          <p:nvSpPr>
            <p:cNvPr name="TextBox 10" id="10"/>
            <p:cNvSpPr txBox="true"/>
            <p:nvPr/>
          </p:nvSpPr>
          <p:spPr>
            <a:xfrm rot="0">
              <a:off x="12074934" y="5531187"/>
              <a:ext cx="12900103" cy="2257556"/>
            </a:xfrm>
            <a:prstGeom prst="rect">
              <a:avLst/>
            </a:prstGeom>
          </p:spPr>
          <p:txBody>
            <a:bodyPr anchor="t" rtlCol="false" tIns="0" lIns="0" bIns="0" rIns="0">
              <a:spAutoFit/>
            </a:bodyPr>
            <a:lstStyle/>
            <a:p>
              <a:pPr algn="ctr">
                <a:lnSpc>
                  <a:spcPts val="14067"/>
                </a:lnSpc>
              </a:pPr>
              <a:r>
                <a:rPr lang="en-US" sz="10048">
                  <a:solidFill>
                    <a:srgbClr val="FFFFFF"/>
                  </a:solidFill>
                  <a:latin typeface="Bobby Jones Soft"/>
                  <a:ea typeface="Bobby Jones Soft"/>
                  <a:cs typeface="Bobby Jones Soft"/>
                  <a:sym typeface="Bobby Jones Soft"/>
                </a:rPr>
                <a:t>Examples</a:t>
              </a:r>
            </a:p>
          </p:txBody>
        </p:sp>
      </p:grpSp>
      <p:sp>
        <p:nvSpPr>
          <p:cNvPr name="Freeform 11" id="11"/>
          <p:cNvSpPr/>
          <p:nvPr/>
        </p:nvSpPr>
        <p:spPr>
          <a:xfrm flipH="false" flipV="false" rot="0">
            <a:off x="2364116" y="3254339"/>
            <a:ext cx="4866414" cy="5999956"/>
          </a:xfrm>
          <a:custGeom>
            <a:avLst/>
            <a:gdLst/>
            <a:ahLst/>
            <a:cxnLst/>
            <a:rect r="r" b="b" t="t" l="l"/>
            <a:pathLst>
              <a:path h="5999956" w="4866414">
                <a:moveTo>
                  <a:pt x="0" y="0"/>
                </a:moveTo>
                <a:lnTo>
                  <a:pt x="4866414" y="0"/>
                </a:lnTo>
                <a:lnTo>
                  <a:pt x="4866414" y="5999956"/>
                </a:lnTo>
                <a:lnTo>
                  <a:pt x="0" y="5999956"/>
                </a:lnTo>
                <a:lnTo>
                  <a:pt x="0" y="0"/>
                </a:lnTo>
                <a:close/>
              </a:path>
            </a:pathLst>
          </a:custGeom>
          <a:blipFill>
            <a:blip r:embed="rId6"/>
            <a:stretch>
              <a:fillRect l="0" t="0" r="0" b="0"/>
            </a:stretch>
          </a:blipFill>
        </p:spPr>
      </p:sp>
      <p:sp>
        <p:nvSpPr>
          <p:cNvPr name="Freeform 12" id="12"/>
          <p:cNvSpPr/>
          <p:nvPr/>
        </p:nvSpPr>
        <p:spPr>
          <a:xfrm flipH="false" flipV="false" rot="0">
            <a:off x="9833003" y="3626967"/>
            <a:ext cx="5029317" cy="5029317"/>
          </a:xfrm>
          <a:custGeom>
            <a:avLst/>
            <a:gdLst/>
            <a:ahLst/>
            <a:cxnLst/>
            <a:rect r="r" b="b" t="t" l="l"/>
            <a:pathLst>
              <a:path h="5029317" w="5029317">
                <a:moveTo>
                  <a:pt x="0" y="0"/>
                </a:moveTo>
                <a:lnTo>
                  <a:pt x="5029317" y="0"/>
                </a:lnTo>
                <a:lnTo>
                  <a:pt x="5029317" y="5029317"/>
                </a:lnTo>
                <a:lnTo>
                  <a:pt x="0" y="5029317"/>
                </a:lnTo>
                <a:lnTo>
                  <a:pt x="0" y="0"/>
                </a:lnTo>
                <a:close/>
              </a:path>
            </a:pathLst>
          </a:custGeom>
          <a:blipFill>
            <a:blip r:embed="rId7"/>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017676" y="-3472343"/>
            <a:ext cx="28522686" cy="17690609"/>
            <a:chOff x="0" y="0"/>
            <a:chExt cx="38030249" cy="23587479"/>
          </a:xfrm>
        </p:grpSpPr>
        <p:sp>
          <p:nvSpPr>
            <p:cNvPr name="Freeform 3" id="3"/>
            <p:cNvSpPr/>
            <p:nvPr/>
          </p:nvSpPr>
          <p:spPr>
            <a:xfrm flipH="false" flipV="false" rot="-3078662">
              <a:off x="28344458" y="1758027"/>
              <a:ext cx="8212438" cy="7719692"/>
            </a:xfrm>
            <a:custGeom>
              <a:avLst/>
              <a:gdLst/>
              <a:ahLst/>
              <a:cxnLst/>
              <a:rect r="r" b="b" t="t" l="l"/>
              <a:pathLst>
                <a:path h="7719692" w="8212438">
                  <a:moveTo>
                    <a:pt x="0" y="0"/>
                  </a:moveTo>
                  <a:lnTo>
                    <a:pt x="8212438" y="0"/>
                  </a:lnTo>
                  <a:lnTo>
                    <a:pt x="8212438" y="7719692"/>
                  </a:lnTo>
                  <a:lnTo>
                    <a:pt x="0" y="77196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3859461">
              <a:off x="1151636" y="2141545"/>
              <a:ext cx="8212438" cy="7719692"/>
            </a:xfrm>
            <a:custGeom>
              <a:avLst/>
              <a:gdLst/>
              <a:ahLst/>
              <a:cxnLst/>
              <a:rect r="r" b="b" t="t" l="l"/>
              <a:pathLst>
                <a:path h="7719692" w="8212438">
                  <a:moveTo>
                    <a:pt x="0" y="0"/>
                  </a:moveTo>
                  <a:lnTo>
                    <a:pt x="8212439" y="0"/>
                  </a:lnTo>
                  <a:lnTo>
                    <a:pt x="8212439" y="7719692"/>
                  </a:lnTo>
                  <a:lnTo>
                    <a:pt x="0" y="77196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3955616" y="15867787"/>
              <a:ext cx="8212438" cy="7719692"/>
            </a:xfrm>
            <a:custGeom>
              <a:avLst/>
              <a:gdLst/>
              <a:ahLst/>
              <a:cxnLst/>
              <a:rect r="r" b="b" t="t" l="l"/>
              <a:pathLst>
                <a:path h="7719692" w="8212438">
                  <a:moveTo>
                    <a:pt x="0" y="0"/>
                  </a:moveTo>
                  <a:lnTo>
                    <a:pt x="8212438" y="0"/>
                  </a:lnTo>
                  <a:lnTo>
                    <a:pt x="8212438" y="7719692"/>
                  </a:lnTo>
                  <a:lnTo>
                    <a:pt x="0" y="77196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4769298">
              <a:off x="28563147" y="14168419"/>
              <a:ext cx="8212438" cy="7719692"/>
            </a:xfrm>
            <a:custGeom>
              <a:avLst/>
              <a:gdLst/>
              <a:ahLst/>
              <a:cxnLst/>
              <a:rect r="r" b="b" t="t" l="l"/>
              <a:pathLst>
                <a:path h="7719692" w="8212438">
                  <a:moveTo>
                    <a:pt x="0" y="0"/>
                  </a:moveTo>
                  <a:lnTo>
                    <a:pt x="8212438" y="0"/>
                  </a:lnTo>
                  <a:lnTo>
                    <a:pt x="8212438" y="7719692"/>
                  </a:lnTo>
                  <a:lnTo>
                    <a:pt x="0" y="77196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3390759" y="5114700"/>
              <a:ext cx="10268453" cy="3309604"/>
              <a:chOff x="0" y="0"/>
              <a:chExt cx="2379790" cy="767025"/>
            </a:xfrm>
          </p:grpSpPr>
          <p:sp>
            <p:nvSpPr>
              <p:cNvPr name="Freeform 8" id="8"/>
              <p:cNvSpPr/>
              <p:nvPr/>
            </p:nvSpPr>
            <p:spPr>
              <a:xfrm flipH="false" flipV="false" rot="0">
                <a:off x="0" y="0"/>
                <a:ext cx="2379790" cy="767025"/>
              </a:xfrm>
              <a:custGeom>
                <a:avLst/>
                <a:gdLst/>
                <a:ahLst/>
                <a:cxnLst/>
                <a:rect r="r" b="b" t="t" l="l"/>
                <a:pathLst>
                  <a:path h="767025" w="2379790">
                    <a:moveTo>
                      <a:pt x="51269" y="0"/>
                    </a:moveTo>
                    <a:lnTo>
                      <a:pt x="2328521" y="0"/>
                    </a:lnTo>
                    <a:cubicBezTo>
                      <a:pt x="2342118" y="0"/>
                      <a:pt x="2355159" y="5402"/>
                      <a:pt x="2364773" y="15016"/>
                    </a:cubicBezTo>
                    <a:cubicBezTo>
                      <a:pt x="2374388" y="24631"/>
                      <a:pt x="2379790" y="37671"/>
                      <a:pt x="2379790" y="51269"/>
                    </a:cubicBezTo>
                    <a:lnTo>
                      <a:pt x="2379790" y="715756"/>
                    </a:lnTo>
                    <a:cubicBezTo>
                      <a:pt x="2379790" y="744071"/>
                      <a:pt x="2356836" y="767025"/>
                      <a:pt x="2328521" y="767025"/>
                    </a:cubicBezTo>
                    <a:lnTo>
                      <a:pt x="51269" y="767025"/>
                    </a:lnTo>
                    <a:cubicBezTo>
                      <a:pt x="22954" y="767025"/>
                      <a:pt x="0" y="744071"/>
                      <a:pt x="0" y="715756"/>
                    </a:cubicBezTo>
                    <a:lnTo>
                      <a:pt x="0" y="51269"/>
                    </a:lnTo>
                    <a:cubicBezTo>
                      <a:pt x="0" y="22954"/>
                      <a:pt x="22954" y="0"/>
                      <a:pt x="51269" y="0"/>
                    </a:cubicBezTo>
                    <a:close/>
                  </a:path>
                </a:pathLst>
              </a:custGeom>
              <a:solidFill>
                <a:srgbClr val="ED9D9D"/>
              </a:solidFill>
              <a:ln w="66675" cap="rnd">
                <a:solidFill>
                  <a:srgbClr val="000000"/>
                </a:solidFill>
                <a:prstDash val="solid"/>
                <a:round/>
              </a:ln>
            </p:spPr>
          </p:sp>
          <p:sp>
            <p:nvSpPr>
              <p:cNvPr name="TextBox 9" id="9"/>
              <p:cNvSpPr txBox="true"/>
              <p:nvPr/>
            </p:nvSpPr>
            <p:spPr>
              <a:xfrm>
                <a:off x="0" y="-38100"/>
                <a:ext cx="2379790" cy="805125"/>
              </a:xfrm>
              <a:prstGeom prst="rect">
                <a:avLst/>
              </a:prstGeom>
            </p:spPr>
            <p:txBody>
              <a:bodyPr anchor="ctr" rtlCol="false" tIns="43298" lIns="43298" bIns="43298" rIns="43298"/>
              <a:lstStyle/>
              <a:p>
                <a:pPr algn="ctr">
                  <a:lnSpc>
                    <a:spcPts val="2659"/>
                  </a:lnSpc>
                  <a:spcBef>
                    <a:spcPct val="0"/>
                  </a:spcBef>
                </a:pPr>
              </a:p>
            </p:txBody>
          </p:sp>
        </p:grpSp>
        <p:sp>
          <p:nvSpPr>
            <p:cNvPr name="TextBox 10" id="10"/>
            <p:cNvSpPr txBox="true"/>
            <p:nvPr/>
          </p:nvSpPr>
          <p:spPr>
            <a:xfrm rot="0">
              <a:off x="12074934" y="5531187"/>
              <a:ext cx="12900103" cy="2257556"/>
            </a:xfrm>
            <a:prstGeom prst="rect">
              <a:avLst/>
            </a:prstGeom>
          </p:spPr>
          <p:txBody>
            <a:bodyPr anchor="t" rtlCol="false" tIns="0" lIns="0" bIns="0" rIns="0">
              <a:spAutoFit/>
            </a:bodyPr>
            <a:lstStyle/>
            <a:p>
              <a:pPr algn="ctr">
                <a:lnSpc>
                  <a:spcPts val="14067"/>
                </a:lnSpc>
              </a:pPr>
              <a:r>
                <a:rPr lang="en-US" sz="10048">
                  <a:solidFill>
                    <a:srgbClr val="FFFFFF"/>
                  </a:solidFill>
                  <a:latin typeface="Bobby Jones Soft"/>
                  <a:ea typeface="Bobby Jones Soft"/>
                  <a:cs typeface="Bobby Jones Soft"/>
                  <a:sym typeface="Bobby Jones Soft"/>
                </a:rPr>
                <a:t>Examples</a:t>
              </a:r>
            </a:p>
          </p:txBody>
        </p:sp>
      </p:grpSp>
      <p:sp>
        <p:nvSpPr>
          <p:cNvPr name="Freeform 11" id="11"/>
          <p:cNvSpPr/>
          <p:nvPr/>
        </p:nvSpPr>
        <p:spPr>
          <a:xfrm flipH="false" flipV="false" rot="0">
            <a:off x="2834698" y="3125243"/>
            <a:ext cx="4086239" cy="6129358"/>
          </a:xfrm>
          <a:custGeom>
            <a:avLst/>
            <a:gdLst/>
            <a:ahLst/>
            <a:cxnLst/>
            <a:rect r="r" b="b" t="t" l="l"/>
            <a:pathLst>
              <a:path h="6129358" w="4086239">
                <a:moveTo>
                  <a:pt x="0" y="0"/>
                </a:moveTo>
                <a:lnTo>
                  <a:pt x="4086239" y="0"/>
                </a:lnTo>
                <a:lnTo>
                  <a:pt x="4086239" y="6129358"/>
                </a:lnTo>
                <a:lnTo>
                  <a:pt x="0" y="6129358"/>
                </a:lnTo>
                <a:lnTo>
                  <a:pt x="0" y="0"/>
                </a:lnTo>
                <a:close/>
              </a:path>
            </a:pathLst>
          </a:custGeom>
          <a:blipFill>
            <a:blip r:embed="rId6"/>
            <a:stretch>
              <a:fillRect l="0" t="0" r="0" b="0"/>
            </a:stretch>
          </a:blipFill>
        </p:spPr>
      </p:sp>
      <p:sp>
        <p:nvSpPr>
          <p:cNvPr name="Freeform 12" id="12"/>
          <p:cNvSpPr/>
          <p:nvPr/>
        </p:nvSpPr>
        <p:spPr>
          <a:xfrm flipH="false" flipV="false" rot="0">
            <a:off x="8589337" y="3266797"/>
            <a:ext cx="8669963" cy="5779976"/>
          </a:xfrm>
          <a:custGeom>
            <a:avLst/>
            <a:gdLst/>
            <a:ahLst/>
            <a:cxnLst/>
            <a:rect r="r" b="b" t="t" l="l"/>
            <a:pathLst>
              <a:path h="5779976" w="8669963">
                <a:moveTo>
                  <a:pt x="0" y="0"/>
                </a:moveTo>
                <a:lnTo>
                  <a:pt x="8669963" y="0"/>
                </a:lnTo>
                <a:lnTo>
                  <a:pt x="8669963" y="5779976"/>
                </a:lnTo>
                <a:lnTo>
                  <a:pt x="0" y="5779976"/>
                </a:lnTo>
                <a:lnTo>
                  <a:pt x="0" y="0"/>
                </a:lnTo>
                <a:close/>
              </a:path>
            </a:pathLst>
          </a:custGeom>
          <a:blipFill>
            <a:blip r:embed="rId7"/>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078662">
            <a:off x="16240667" y="-2153823"/>
            <a:ext cx="6159329" cy="5789769"/>
          </a:xfrm>
          <a:custGeom>
            <a:avLst/>
            <a:gdLst/>
            <a:ahLst/>
            <a:cxnLst/>
            <a:rect r="r" b="b" t="t" l="l"/>
            <a:pathLst>
              <a:path h="5789769" w="6159329">
                <a:moveTo>
                  <a:pt x="0" y="0"/>
                </a:moveTo>
                <a:lnTo>
                  <a:pt x="6159329" y="0"/>
                </a:lnTo>
                <a:lnTo>
                  <a:pt x="6159329" y="5789769"/>
                </a:lnTo>
                <a:lnTo>
                  <a:pt x="0" y="57897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859461">
            <a:off x="-3877643" y="-1866184"/>
            <a:ext cx="6159329" cy="5789769"/>
          </a:xfrm>
          <a:custGeom>
            <a:avLst/>
            <a:gdLst/>
            <a:ahLst/>
            <a:cxnLst/>
            <a:rect r="r" b="b" t="t" l="l"/>
            <a:pathLst>
              <a:path h="5789769" w="6159329">
                <a:moveTo>
                  <a:pt x="0" y="0"/>
                </a:moveTo>
                <a:lnTo>
                  <a:pt x="6159329" y="0"/>
                </a:lnTo>
                <a:lnTo>
                  <a:pt x="6159329" y="5789768"/>
                </a:lnTo>
                <a:lnTo>
                  <a:pt x="0" y="57897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050964" y="8428497"/>
            <a:ext cx="6159329" cy="5789769"/>
          </a:xfrm>
          <a:custGeom>
            <a:avLst/>
            <a:gdLst/>
            <a:ahLst/>
            <a:cxnLst/>
            <a:rect r="r" b="b" t="t" l="l"/>
            <a:pathLst>
              <a:path h="5789769" w="6159329">
                <a:moveTo>
                  <a:pt x="0" y="0"/>
                </a:moveTo>
                <a:lnTo>
                  <a:pt x="6159328" y="0"/>
                </a:lnTo>
                <a:lnTo>
                  <a:pt x="6159328" y="5789769"/>
                </a:lnTo>
                <a:lnTo>
                  <a:pt x="0" y="57897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4769298">
            <a:off x="16404684" y="7153971"/>
            <a:ext cx="6159329" cy="5789769"/>
          </a:xfrm>
          <a:custGeom>
            <a:avLst/>
            <a:gdLst/>
            <a:ahLst/>
            <a:cxnLst/>
            <a:rect r="r" b="b" t="t" l="l"/>
            <a:pathLst>
              <a:path h="5789769" w="6159329">
                <a:moveTo>
                  <a:pt x="0" y="0"/>
                </a:moveTo>
                <a:lnTo>
                  <a:pt x="6159329" y="0"/>
                </a:lnTo>
                <a:lnTo>
                  <a:pt x="6159329" y="5789769"/>
                </a:lnTo>
                <a:lnTo>
                  <a:pt x="0" y="57897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4909461" y="554971"/>
            <a:ext cx="8891581" cy="1802065"/>
            <a:chOff x="0" y="0"/>
            <a:chExt cx="2747586" cy="556856"/>
          </a:xfrm>
        </p:grpSpPr>
        <p:sp>
          <p:nvSpPr>
            <p:cNvPr name="Freeform 7" id="7"/>
            <p:cNvSpPr/>
            <p:nvPr/>
          </p:nvSpPr>
          <p:spPr>
            <a:xfrm flipH="false" flipV="false" rot="0">
              <a:off x="0" y="0"/>
              <a:ext cx="2747586" cy="556856"/>
            </a:xfrm>
            <a:custGeom>
              <a:avLst/>
              <a:gdLst/>
              <a:ahLst/>
              <a:cxnLst/>
              <a:rect r="r" b="b" t="t" l="l"/>
              <a:pathLst>
                <a:path h="556856" w="2747586">
                  <a:moveTo>
                    <a:pt x="44406" y="0"/>
                  </a:moveTo>
                  <a:lnTo>
                    <a:pt x="2703180" y="0"/>
                  </a:lnTo>
                  <a:cubicBezTo>
                    <a:pt x="2727705" y="0"/>
                    <a:pt x="2747586" y="19881"/>
                    <a:pt x="2747586" y="44406"/>
                  </a:cubicBezTo>
                  <a:lnTo>
                    <a:pt x="2747586" y="512450"/>
                  </a:lnTo>
                  <a:cubicBezTo>
                    <a:pt x="2747586" y="524227"/>
                    <a:pt x="2742907" y="535522"/>
                    <a:pt x="2734580" y="543850"/>
                  </a:cubicBezTo>
                  <a:cubicBezTo>
                    <a:pt x="2726252" y="552177"/>
                    <a:pt x="2714957" y="556856"/>
                    <a:pt x="2703180" y="556856"/>
                  </a:cubicBezTo>
                  <a:lnTo>
                    <a:pt x="44406" y="556856"/>
                  </a:lnTo>
                  <a:cubicBezTo>
                    <a:pt x="32629" y="556856"/>
                    <a:pt x="21334" y="552177"/>
                    <a:pt x="13006" y="543850"/>
                  </a:cubicBezTo>
                  <a:cubicBezTo>
                    <a:pt x="4678" y="535522"/>
                    <a:pt x="0" y="524227"/>
                    <a:pt x="0" y="512450"/>
                  </a:cubicBezTo>
                  <a:lnTo>
                    <a:pt x="0" y="44406"/>
                  </a:lnTo>
                  <a:cubicBezTo>
                    <a:pt x="0" y="32629"/>
                    <a:pt x="4678" y="21334"/>
                    <a:pt x="13006" y="13006"/>
                  </a:cubicBezTo>
                  <a:cubicBezTo>
                    <a:pt x="21334" y="4678"/>
                    <a:pt x="32629" y="0"/>
                    <a:pt x="44406" y="0"/>
                  </a:cubicBezTo>
                  <a:close/>
                </a:path>
              </a:pathLst>
            </a:custGeom>
            <a:solidFill>
              <a:srgbClr val="ED9D9D"/>
            </a:solidFill>
            <a:ln w="66675" cap="rnd">
              <a:solidFill>
                <a:srgbClr val="000000"/>
              </a:solidFill>
              <a:prstDash val="solid"/>
              <a:round/>
            </a:ln>
          </p:spPr>
        </p:sp>
        <p:sp>
          <p:nvSpPr>
            <p:cNvPr name="TextBox 8" id="8"/>
            <p:cNvSpPr txBox="true"/>
            <p:nvPr/>
          </p:nvSpPr>
          <p:spPr>
            <a:xfrm>
              <a:off x="0" y="-38100"/>
              <a:ext cx="2747586" cy="594956"/>
            </a:xfrm>
            <a:prstGeom prst="rect">
              <a:avLst/>
            </a:prstGeom>
          </p:spPr>
          <p:txBody>
            <a:bodyPr anchor="ctr" rtlCol="false" tIns="43298" lIns="43298" bIns="43298" rIns="43298"/>
            <a:lstStyle/>
            <a:p>
              <a:pPr algn="ctr">
                <a:lnSpc>
                  <a:spcPts val="2659"/>
                </a:lnSpc>
                <a:spcBef>
                  <a:spcPct val="0"/>
                </a:spcBef>
              </a:pPr>
            </a:p>
          </p:txBody>
        </p:sp>
      </p:grpSp>
      <p:grpSp>
        <p:nvGrpSpPr>
          <p:cNvPr name="Group 9" id="9"/>
          <p:cNvGrpSpPr/>
          <p:nvPr/>
        </p:nvGrpSpPr>
        <p:grpSpPr>
          <a:xfrm rot="0">
            <a:off x="1337870" y="3504226"/>
            <a:ext cx="8017382" cy="5754074"/>
            <a:chOff x="0" y="0"/>
            <a:chExt cx="1968925" cy="1413097"/>
          </a:xfrm>
        </p:grpSpPr>
        <p:sp>
          <p:nvSpPr>
            <p:cNvPr name="Freeform 10" id="10"/>
            <p:cNvSpPr/>
            <p:nvPr/>
          </p:nvSpPr>
          <p:spPr>
            <a:xfrm flipH="false" flipV="false" rot="0">
              <a:off x="0" y="0"/>
              <a:ext cx="1968925" cy="1413097"/>
            </a:xfrm>
            <a:custGeom>
              <a:avLst/>
              <a:gdLst/>
              <a:ahLst/>
              <a:cxnLst/>
              <a:rect r="r" b="b" t="t" l="l"/>
              <a:pathLst>
                <a:path h="1413097" w="1968925">
                  <a:moveTo>
                    <a:pt x="49248" y="0"/>
                  </a:moveTo>
                  <a:lnTo>
                    <a:pt x="1919677" y="0"/>
                  </a:lnTo>
                  <a:cubicBezTo>
                    <a:pt x="1946876" y="0"/>
                    <a:pt x="1968925" y="22049"/>
                    <a:pt x="1968925" y="49248"/>
                  </a:cubicBezTo>
                  <a:lnTo>
                    <a:pt x="1968925" y="1363849"/>
                  </a:lnTo>
                  <a:cubicBezTo>
                    <a:pt x="1968925" y="1391048"/>
                    <a:pt x="1946876" y="1413097"/>
                    <a:pt x="1919677" y="1413097"/>
                  </a:cubicBezTo>
                  <a:lnTo>
                    <a:pt x="49248" y="1413097"/>
                  </a:lnTo>
                  <a:cubicBezTo>
                    <a:pt x="22049" y="1413097"/>
                    <a:pt x="0" y="1391048"/>
                    <a:pt x="0" y="1363849"/>
                  </a:cubicBezTo>
                  <a:lnTo>
                    <a:pt x="0" y="49248"/>
                  </a:lnTo>
                  <a:cubicBezTo>
                    <a:pt x="0" y="22049"/>
                    <a:pt x="22049" y="0"/>
                    <a:pt x="49248" y="0"/>
                  </a:cubicBezTo>
                  <a:close/>
                </a:path>
              </a:pathLst>
            </a:custGeom>
            <a:solidFill>
              <a:srgbClr val="7E94B7"/>
            </a:solidFill>
            <a:ln w="66675" cap="rnd">
              <a:solidFill>
                <a:srgbClr val="000000"/>
              </a:solidFill>
              <a:prstDash val="solid"/>
              <a:round/>
            </a:ln>
          </p:spPr>
        </p:sp>
        <p:sp>
          <p:nvSpPr>
            <p:cNvPr name="TextBox 11" id="11"/>
            <p:cNvSpPr txBox="true"/>
            <p:nvPr/>
          </p:nvSpPr>
          <p:spPr>
            <a:xfrm>
              <a:off x="0" y="-38100"/>
              <a:ext cx="1968925" cy="1451197"/>
            </a:xfrm>
            <a:prstGeom prst="rect">
              <a:avLst/>
            </a:prstGeom>
          </p:spPr>
          <p:txBody>
            <a:bodyPr anchor="ctr" rtlCol="false" tIns="43298" lIns="43298" bIns="43298" rIns="43298"/>
            <a:lstStyle/>
            <a:p>
              <a:pPr algn="ctr">
                <a:lnSpc>
                  <a:spcPts val="2659"/>
                </a:lnSpc>
                <a:spcBef>
                  <a:spcPct val="0"/>
                </a:spcBef>
              </a:pPr>
            </a:p>
          </p:txBody>
        </p:sp>
      </p:grpSp>
      <p:sp>
        <p:nvSpPr>
          <p:cNvPr name="TextBox 12" id="12"/>
          <p:cNvSpPr txBox="true"/>
          <p:nvPr/>
        </p:nvSpPr>
        <p:spPr>
          <a:xfrm rot="0">
            <a:off x="1337870" y="4008396"/>
            <a:ext cx="7375046" cy="4660009"/>
          </a:xfrm>
          <a:prstGeom prst="rect">
            <a:avLst/>
          </a:prstGeom>
        </p:spPr>
        <p:txBody>
          <a:bodyPr anchor="t" rtlCol="false" tIns="0" lIns="0" bIns="0" rIns="0">
            <a:spAutoFit/>
          </a:bodyPr>
          <a:lstStyle/>
          <a:p>
            <a:pPr algn="l" marL="950817" indent="-475409" lvl="1">
              <a:lnSpc>
                <a:spcPts val="6165"/>
              </a:lnSpc>
              <a:buFont typeface="Arial"/>
              <a:buChar char="•"/>
            </a:pPr>
            <a:r>
              <a:rPr lang="en-US" sz="4403">
                <a:solidFill>
                  <a:srgbClr val="000000"/>
                </a:solidFill>
                <a:latin typeface="Playpen Sans"/>
                <a:ea typeface="Playpen Sans"/>
                <a:cs typeface="Playpen Sans"/>
                <a:sym typeface="Playpen Sans"/>
              </a:rPr>
              <a:t>If we notice a mistake from the AI, we write it down in the prompt</a:t>
            </a:r>
          </a:p>
          <a:p>
            <a:pPr algn="l" marL="950817" indent="-475409" lvl="1">
              <a:lnSpc>
                <a:spcPts val="6165"/>
              </a:lnSpc>
              <a:buFont typeface="Arial"/>
              <a:buChar char="•"/>
            </a:pPr>
            <a:r>
              <a:rPr lang="en-US" sz="4403">
                <a:solidFill>
                  <a:srgbClr val="000000"/>
                </a:solidFill>
                <a:latin typeface="Playpen Sans"/>
                <a:ea typeface="Playpen Sans"/>
                <a:cs typeface="Playpen Sans"/>
                <a:sym typeface="Playpen Sans"/>
              </a:rPr>
              <a:t>The AI will try its best to notice the mistake and start over.</a:t>
            </a:r>
          </a:p>
        </p:txBody>
      </p:sp>
      <p:sp>
        <p:nvSpPr>
          <p:cNvPr name="TextBox 13" id="13"/>
          <p:cNvSpPr txBox="true"/>
          <p:nvPr/>
        </p:nvSpPr>
        <p:spPr>
          <a:xfrm rot="0">
            <a:off x="5171678" y="770425"/>
            <a:ext cx="8135284" cy="1316432"/>
          </a:xfrm>
          <a:prstGeom prst="rect">
            <a:avLst/>
          </a:prstGeom>
        </p:spPr>
        <p:txBody>
          <a:bodyPr anchor="t" rtlCol="false" tIns="0" lIns="0" bIns="0" rIns="0">
            <a:spAutoFit/>
          </a:bodyPr>
          <a:lstStyle/>
          <a:p>
            <a:pPr algn="ctr">
              <a:lnSpc>
                <a:spcPts val="10623"/>
              </a:lnSpc>
            </a:pPr>
            <a:r>
              <a:rPr lang="en-US" sz="7588">
                <a:solidFill>
                  <a:srgbClr val="FFFFFF"/>
                </a:solidFill>
                <a:latin typeface="Bobby Jones Soft"/>
                <a:ea typeface="Bobby Jones Soft"/>
                <a:cs typeface="Bobby Jones Soft"/>
                <a:sym typeface="Bobby Jones Soft"/>
              </a:rPr>
              <a:t>hOW hUMANS HELP AI</a:t>
            </a:r>
          </a:p>
        </p:txBody>
      </p:sp>
      <p:sp>
        <p:nvSpPr>
          <p:cNvPr name="Freeform 14" id="14"/>
          <p:cNvSpPr/>
          <p:nvPr/>
        </p:nvSpPr>
        <p:spPr>
          <a:xfrm flipH="false" flipV="false" rot="0">
            <a:off x="10324119" y="4315326"/>
            <a:ext cx="6595763" cy="3606364"/>
          </a:xfrm>
          <a:custGeom>
            <a:avLst/>
            <a:gdLst/>
            <a:ahLst/>
            <a:cxnLst/>
            <a:rect r="r" b="b" t="t" l="l"/>
            <a:pathLst>
              <a:path h="3606364" w="6595763">
                <a:moveTo>
                  <a:pt x="0" y="0"/>
                </a:moveTo>
                <a:lnTo>
                  <a:pt x="6595763" y="0"/>
                </a:lnTo>
                <a:lnTo>
                  <a:pt x="6595763" y="3606363"/>
                </a:lnTo>
                <a:lnTo>
                  <a:pt x="0" y="3606363"/>
                </a:lnTo>
                <a:lnTo>
                  <a:pt x="0" y="0"/>
                </a:lnTo>
                <a:close/>
              </a:path>
            </a:pathLst>
          </a:custGeom>
          <a:blipFill>
            <a:blip r:embed="rId6"/>
            <a:stretch>
              <a:fillRect l="-241"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66463" y="3950053"/>
            <a:ext cx="14555073" cy="3627996"/>
            <a:chOff x="0" y="0"/>
            <a:chExt cx="4497661" cy="1121086"/>
          </a:xfrm>
        </p:grpSpPr>
        <p:sp>
          <p:nvSpPr>
            <p:cNvPr name="Freeform 3" id="3"/>
            <p:cNvSpPr/>
            <p:nvPr/>
          </p:nvSpPr>
          <p:spPr>
            <a:xfrm flipH="false" flipV="false" rot="0">
              <a:off x="0" y="0"/>
              <a:ext cx="4497661" cy="1121087"/>
            </a:xfrm>
            <a:custGeom>
              <a:avLst/>
              <a:gdLst/>
              <a:ahLst/>
              <a:cxnLst/>
              <a:rect r="r" b="b" t="t" l="l"/>
              <a:pathLst>
                <a:path h="1121087" w="4497661">
                  <a:moveTo>
                    <a:pt x="27127" y="0"/>
                  </a:moveTo>
                  <a:lnTo>
                    <a:pt x="4470534" y="0"/>
                  </a:lnTo>
                  <a:cubicBezTo>
                    <a:pt x="4485515" y="0"/>
                    <a:pt x="4497661" y="12145"/>
                    <a:pt x="4497661" y="27127"/>
                  </a:cubicBezTo>
                  <a:lnTo>
                    <a:pt x="4497661" y="1093959"/>
                  </a:lnTo>
                  <a:cubicBezTo>
                    <a:pt x="4497661" y="1101154"/>
                    <a:pt x="4494803" y="1108054"/>
                    <a:pt x="4489715" y="1113141"/>
                  </a:cubicBezTo>
                  <a:cubicBezTo>
                    <a:pt x="4484628" y="1118228"/>
                    <a:pt x="4477728" y="1121087"/>
                    <a:pt x="4470534" y="1121087"/>
                  </a:cubicBezTo>
                  <a:lnTo>
                    <a:pt x="27127" y="1121087"/>
                  </a:lnTo>
                  <a:cubicBezTo>
                    <a:pt x="19933" y="1121087"/>
                    <a:pt x="13033" y="1118228"/>
                    <a:pt x="7945" y="1113141"/>
                  </a:cubicBezTo>
                  <a:cubicBezTo>
                    <a:pt x="2858" y="1108054"/>
                    <a:pt x="0" y="1101154"/>
                    <a:pt x="0" y="1093959"/>
                  </a:cubicBezTo>
                  <a:lnTo>
                    <a:pt x="0" y="27127"/>
                  </a:lnTo>
                  <a:cubicBezTo>
                    <a:pt x="0" y="19933"/>
                    <a:pt x="2858" y="13033"/>
                    <a:pt x="7945" y="7945"/>
                  </a:cubicBezTo>
                  <a:cubicBezTo>
                    <a:pt x="13033" y="2858"/>
                    <a:pt x="19933" y="0"/>
                    <a:pt x="27127" y="0"/>
                  </a:cubicBezTo>
                  <a:close/>
                </a:path>
              </a:pathLst>
            </a:custGeom>
            <a:solidFill>
              <a:srgbClr val="7E94B7"/>
            </a:solidFill>
            <a:ln w="66675" cap="rnd">
              <a:solidFill>
                <a:srgbClr val="000000"/>
              </a:solidFill>
              <a:prstDash val="solid"/>
              <a:round/>
            </a:ln>
          </p:spPr>
        </p:sp>
        <p:sp>
          <p:nvSpPr>
            <p:cNvPr name="TextBox 4" id="4"/>
            <p:cNvSpPr txBox="true"/>
            <p:nvPr/>
          </p:nvSpPr>
          <p:spPr>
            <a:xfrm>
              <a:off x="0" y="-38100"/>
              <a:ext cx="4497661" cy="1159186"/>
            </a:xfrm>
            <a:prstGeom prst="rect">
              <a:avLst/>
            </a:prstGeom>
          </p:spPr>
          <p:txBody>
            <a:bodyPr anchor="ctr" rtlCol="false" tIns="43298" lIns="43298" bIns="43298" rIns="43298"/>
            <a:lstStyle/>
            <a:p>
              <a:pPr algn="ctr">
                <a:lnSpc>
                  <a:spcPts val="2659"/>
                </a:lnSpc>
                <a:spcBef>
                  <a:spcPct val="0"/>
                </a:spcBef>
              </a:pPr>
            </a:p>
          </p:txBody>
        </p:sp>
      </p:grpSp>
      <p:sp>
        <p:nvSpPr>
          <p:cNvPr name="Freeform 5" id="5"/>
          <p:cNvSpPr/>
          <p:nvPr/>
        </p:nvSpPr>
        <p:spPr>
          <a:xfrm flipH="false" flipV="false" rot="-3078662">
            <a:off x="16215090" y="-2102668"/>
            <a:ext cx="6159329" cy="5789769"/>
          </a:xfrm>
          <a:custGeom>
            <a:avLst/>
            <a:gdLst/>
            <a:ahLst/>
            <a:cxnLst/>
            <a:rect r="r" b="b" t="t" l="l"/>
            <a:pathLst>
              <a:path h="5789769" w="6159329">
                <a:moveTo>
                  <a:pt x="0" y="0"/>
                </a:moveTo>
                <a:lnTo>
                  <a:pt x="6159328" y="0"/>
                </a:lnTo>
                <a:lnTo>
                  <a:pt x="6159328" y="5789769"/>
                </a:lnTo>
                <a:lnTo>
                  <a:pt x="0" y="57897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644776">
            <a:off x="-3490362" y="-2332117"/>
            <a:ext cx="6159329" cy="5789769"/>
          </a:xfrm>
          <a:custGeom>
            <a:avLst/>
            <a:gdLst/>
            <a:ahLst/>
            <a:cxnLst/>
            <a:rect r="r" b="b" t="t" l="l"/>
            <a:pathLst>
              <a:path h="5789769" w="6159329">
                <a:moveTo>
                  <a:pt x="0" y="0"/>
                </a:moveTo>
                <a:lnTo>
                  <a:pt x="6159328" y="0"/>
                </a:lnTo>
                <a:lnTo>
                  <a:pt x="6159328" y="5789769"/>
                </a:lnTo>
                <a:lnTo>
                  <a:pt x="0" y="57897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2803212" y="2708951"/>
            <a:ext cx="12681576" cy="2482203"/>
            <a:chOff x="0" y="0"/>
            <a:chExt cx="3918731" cy="767025"/>
          </a:xfrm>
        </p:grpSpPr>
        <p:sp>
          <p:nvSpPr>
            <p:cNvPr name="Freeform 8" id="8"/>
            <p:cNvSpPr/>
            <p:nvPr/>
          </p:nvSpPr>
          <p:spPr>
            <a:xfrm flipH="false" flipV="false" rot="0">
              <a:off x="0" y="0"/>
              <a:ext cx="3918731" cy="767025"/>
            </a:xfrm>
            <a:custGeom>
              <a:avLst/>
              <a:gdLst/>
              <a:ahLst/>
              <a:cxnLst/>
              <a:rect r="r" b="b" t="t" l="l"/>
              <a:pathLst>
                <a:path h="767025" w="3918731">
                  <a:moveTo>
                    <a:pt x="31135" y="0"/>
                  </a:moveTo>
                  <a:lnTo>
                    <a:pt x="3887596" y="0"/>
                  </a:lnTo>
                  <a:cubicBezTo>
                    <a:pt x="3895854" y="0"/>
                    <a:pt x="3903773" y="3280"/>
                    <a:pt x="3909612" y="9119"/>
                  </a:cubicBezTo>
                  <a:cubicBezTo>
                    <a:pt x="3915451" y="14958"/>
                    <a:pt x="3918731" y="22877"/>
                    <a:pt x="3918731" y="31135"/>
                  </a:cubicBezTo>
                  <a:lnTo>
                    <a:pt x="3918731" y="735890"/>
                  </a:lnTo>
                  <a:cubicBezTo>
                    <a:pt x="3918731" y="753086"/>
                    <a:pt x="3904792" y="767025"/>
                    <a:pt x="3887596" y="767025"/>
                  </a:cubicBezTo>
                  <a:lnTo>
                    <a:pt x="31135" y="767025"/>
                  </a:lnTo>
                  <a:cubicBezTo>
                    <a:pt x="13940" y="767025"/>
                    <a:pt x="0" y="753086"/>
                    <a:pt x="0" y="735890"/>
                  </a:cubicBezTo>
                  <a:lnTo>
                    <a:pt x="0" y="31135"/>
                  </a:lnTo>
                  <a:cubicBezTo>
                    <a:pt x="0" y="13940"/>
                    <a:pt x="13940" y="0"/>
                    <a:pt x="31135" y="0"/>
                  </a:cubicBezTo>
                  <a:close/>
                </a:path>
              </a:pathLst>
            </a:custGeom>
            <a:solidFill>
              <a:srgbClr val="ED9D9D"/>
            </a:solidFill>
            <a:ln w="66675" cap="rnd">
              <a:solidFill>
                <a:srgbClr val="000000"/>
              </a:solidFill>
              <a:prstDash val="solid"/>
              <a:round/>
            </a:ln>
          </p:spPr>
        </p:sp>
        <p:sp>
          <p:nvSpPr>
            <p:cNvPr name="TextBox 9" id="9"/>
            <p:cNvSpPr txBox="true"/>
            <p:nvPr/>
          </p:nvSpPr>
          <p:spPr>
            <a:xfrm>
              <a:off x="0" y="-38100"/>
              <a:ext cx="3918731" cy="805125"/>
            </a:xfrm>
            <a:prstGeom prst="rect">
              <a:avLst/>
            </a:prstGeom>
          </p:spPr>
          <p:txBody>
            <a:bodyPr anchor="ctr" rtlCol="false" tIns="43298" lIns="43298" bIns="43298" rIns="43298"/>
            <a:lstStyle/>
            <a:p>
              <a:pPr algn="ctr">
                <a:lnSpc>
                  <a:spcPts val="2659"/>
                </a:lnSpc>
                <a:spcBef>
                  <a:spcPct val="0"/>
                </a:spcBef>
              </a:pPr>
            </a:p>
          </p:txBody>
        </p:sp>
      </p:grpSp>
      <p:sp>
        <p:nvSpPr>
          <p:cNvPr name="Freeform 10" id="10"/>
          <p:cNvSpPr/>
          <p:nvPr/>
        </p:nvSpPr>
        <p:spPr>
          <a:xfrm flipH="false" flipV="false" rot="0">
            <a:off x="-2076542" y="8479652"/>
            <a:ext cx="6159329" cy="5789769"/>
          </a:xfrm>
          <a:custGeom>
            <a:avLst/>
            <a:gdLst/>
            <a:ahLst/>
            <a:cxnLst/>
            <a:rect r="r" b="b" t="t" l="l"/>
            <a:pathLst>
              <a:path h="5789769" w="6159329">
                <a:moveTo>
                  <a:pt x="0" y="0"/>
                </a:moveTo>
                <a:lnTo>
                  <a:pt x="6159329" y="0"/>
                </a:lnTo>
                <a:lnTo>
                  <a:pt x="6159329" y="5789769"/>
                </a:lnTo>
                <a:lnTo>
                  <a:pt x="0" y="57897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4769298">
            <a:off x="15950480" y="7021429"/>
            <a:ext cx="6159329" cy="5789769"/>
          </a:xfrm>
          <a:custGeom>
            <a:avLst/>
            <a:gdLst/>
            <a:ahLst/>
            <a:cxnLst/>
            <a:rect r="r" b="b" t="t" l="l"/>
            <a:pathLst>
              <a:path h="5789769" w="6159329">
                <a:moveTo>
                  <a:pt x="0" y="0"/>
                </a:moveTo>
                <a:lnTo>
                  <a:pt x="6159328" y="0"/>
                </a:lnTo>
                <a:lnTo>
                  <a:pt x="6159328" y="5789769"/>
                </a:lnTo>
                <a:lnTo>
                  <a:pt x="0" y="57897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2898668" y="5668801"/>
            <a:ext cx="12490664" cy="868425"/>
          </a:xfrm>
          <a:prstGeom prst="rect">
            <a:avLst/>
          </a:prstGeom>
        </p:spPr>
        <p:txBody>
          <a:bodyPr anchor="t" rtlCol="false" tIns="0" lIns="0" bIns="0" rIns="0">
            <a:spAutoFit/>
          </a:bodyPr>
          <a:lstStyle/>
          <a:p>
            <a:pPr algn="ctr">
              <a:lnSpc>
                <a:spcPts val="7102"/>
              </a:lnSpc>
            </a:pPr>
            <a:r>
              <a:rPr lang="en-US" sz="5073">
                <a:solidFill>
                  <a:srgbClr val="000000"/>
                </a:solidFill>
                <a:latin typeface="Playpen Sans"/>
                <a:ea typeface="Playpen Sans"/>
                <a:cs typeface="Playpen Sans"/>
                <a:sym typeface="Playpen Sans"/>
              </a:rPr>
              <a:t>Why should we check AI answers?</a:t>
            </a:r>
          </a:p>
        </p:txBody>
      </p:sp>
      <p:sp>
        <p:nvSpPr>
          <p:cNvPr name="TextBox 13" id="13"/>
          <p:cNvSpPr txBox="true"/>
          <p:nvPr/>
        </p:nvSpPr>
        <p:spPr>
          <a:xfrm rot="0">
            <a:off x="2431058" y="2841930"/>
            <a:ext cx="13477039" cy="1885399"/>
          </a:xfrm>
          <a:prstGeom prst="rect">
            <a:avLst/>
          </a:prstGeom>
        </p:spPr>
        <p:txBody>
          <a:bodyPr anchor="t" rtlCol="false" tIns="0" lIns="0" bIns="0" rIns="0">
            <a:spAutoFit/>
          </a:bodyPr>
          <a:lstStyle/>
          <a:p>
            <a:pPr algn="ctr">
              <a:lnSpc>
                <a:spcPts val="15260"/>
              </a:lnSpc>
            </a:pPr>
            <a:r>
              <a:rPr lang="en-US" sz="10900">
                <a:solidFill>
                  <a:srgbClr val="FFFFFF"/>
                </a:solidFill>
                <a:latin typeface="Bobby Jones Soft"/>
                <a:ea typeface="Bobby Jones Soft"/>
                <a:cs typeface="Bobby Jones Soft"/>
                <a:sym typeface="Bobby Jones Soft"/>
              </a:rPr>
              <a:t>REFLECTION QUESTIOn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DAHPcrzkquo</dc:identifier>
  <dcterms:modified xsi:type="dcterms:W3CDTF">2011-08-01T06:04:30Z</dcterms:modified>
  <cp:revision>1</cp:revision>
  <dc:title>Lesson 3: Can AI Make Mistakes?</dc:title>
</cp:coreProperties>
</file>