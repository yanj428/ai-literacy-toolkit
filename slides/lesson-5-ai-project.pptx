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Bobby Jones Soft" charset="1" panose="00000000000000000000"/>
      <p:regular r:id="rId9"/>
    </p:embeddedFont>
    <p:embeddedFont>
      <p:font typeface="Playpen Sans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08336" y="6819994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15318" y="-442468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68390" y="70955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79636" y="-3404535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8"/>
                </a:lnTo>
                <a:lnTo>
                  <a:pt x="0" y="5789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207962">
            <a:off x="-247519" y="1410359"/>
            <a:ext cx="15159136" cy="3277902"/>
            <a:chOff x="0" y="0"/>
            <a:chExt cx="20212181" cy="437053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095922" y="0"/>
              <a:ext cx="17674540" cy="4370536"/>
              <a:chOff x="0" y="0"/>
              <a:chExt cx="4096205" cy="101290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96205" cy="1012904"/>
              </a:xfrm>
              <a:custGeom>
                <a:avLst/>
                <a:gdLst/>
                <a:ahLst/>
                <a:cxnLst/>
                <a:rect r="r" b="b" t="t" l="l"/>
                <a:pathLst>
                  <a:path h="1012904" w="4096205">
                    <a:moveTo>
                      <a:pt x="29786" y="0"/>
                    </a:moveTo>
                    <a:lnTo>
                      <a:pt x="4066419" y="0"/>
                    </a:lnTo>
                    <a:cubicBezTo>
                      <a:pt x="4082869" y="0"/>
                      <a:pt x="4096205" y="13336"/>
                      <a:pt x="4096205" y="29786"/>
                    </a:cubicBezTo>
                    <a:lnTo>
                      <a:pt x="4096205" y="983118"/>
                    </a:lnTo>
                    <a:cubicBezTo>
                      <a:pt x="4096205" y="999568"/>
                      <a:pt x="4082869" y="1012904"/>
                      <a:pt x="4066419" y="1012904"/>
                    </a:cubicBezTo>
                    <a:lnTo>
                      <a:pt x="29786" y="1012904"/>
                    </a:lnTo>
                    <a:cubicBezTo>
                      <a:pt x="13336" y="1012904"/>
                      <a:pt x="0" y="999568"/>
                      <a:pt x="0" y="983118"/>
                    </a:cubicBezTo>
                    <a:lnTo>
                      <a:pt x="0" y="29786"/>
                    </a:lnTo>
                    <a:cubicBezTo>
                      <a:pt x="0" y="13336"/>
                      <a:pt x="13336" y="0"/>
                      <a:pt x="29786" y="0"/>
                    </a:cubicBezTo>
                    <a:close/>
                  </a:path>
                </a:pathLst>
              </a:custGeom>
              <a:solidFill>
                <a:srgbClr val="7E94B7"/>
              </a:solidFill>
              <a:ln w="1047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096205" cy="1051004"/>
              </a:xfrm>
              <a:prstGeom prst="rect">
                <a:avLst/>
              </a:prstGeom>
            </p:spPr>
            <p:txBody>
              <a:bodyPr anchor="ctr" rtlCol="false" tIns="43298" lIns="43298" bIns="43298" rIns="4329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76742"/>
              <a:ext cx="20212181" cy="3756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411"/>
                </a:lnSpc>
              </a:pPr>
              <a:r>
                <a:rPr lang="en-US" sz="16722">
                  <a:solidFill>
                    <a:srgbClr val="ED9D9D"/>
                  </a:solidFill>
                  <a:latin typeface="Bobby Jones Soft"/>
                  <a:ea typeface="Bobby Jones Soft"/>
                  <a:cs typeface="Bobby Jones Soft"/>
                  <a:sym typeface="Bobby Jones Soft"/>
                </a:rPr>
                <a:t>AI aRound us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242338" y="2727900"/>
            <a:ext cx="9064672" cy="9529222"/>
          </a:xfrm>
          <a:custGeom>
            <a:avLst/>
            <a:gdLst/>
            <a:ahLst/>
            <a:cxnLst/>
            <a:rect r="r" b="b" t="t" l="l"/>
            <a:pathLst>
              <a:path h="9529222" w="9064672">
                <a:moveTo>
                  <a:pt x="0" y="0"/>
                </a:moveTo>
                <a:lnTo>
                  <a:pt x="9064673" y="0"/>
                </a:lnTo>
                <a:lnTo>
                  <a:pt x="9064673" y="9529222"/>
                </a:lnTo>
                <a:lnTo>
                  <a:pt x="0" y="95292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78662">
            <a:off x="16240667" y="-21538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59461">
            <a:off x="-4153949" y="-1866184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8"/>
                </a:lnTo>
                <a:lnTo>
                  <a:pt x="0" y="5789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50964" y="842849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769298">
            <a:off x="16404684" y="7153971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08855" y="920983"/>
            <a:ext cx="10070290" cy="8445034"/>
            <a:chOff x="0" y="0"/>
            <a:chExt cx="13427054" cy="1126004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2053447"/>
              <a:ext cx="13427054" cy="9206598"/>
              <a:chOff x="0" y="0"/>
              <a:chExt cx="2507707" cy="171947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507707" cy="1719473"/>
              </a:xfrm>
              <a:custGeom>
                <a:avLst/>
                <a:gdLst/>
                <a:ahLst/>
                <a:cxnLst/>
                <a:rect r="r" b="b" t="t" l="l"/>
                <a:pathLst>
                  <a:path h="1719473" w="2507707">
                    <a:moveTo>
                      <a:pt x="48654" y="0"/>
                    </a:moveTo>
                    <a:lnTo>
                      <a:pt x="2459054" y="0"/>
                    </a:lnTo>
                    <a:cubicBezTo>
                      <a:pt x="2485924" y="0"/>
                      <a:pt x="2507707" y="21783"/>
                      <a:pt x="2507707" y="48654"/>
                    </a:cubicBezTo>
                    <a:lnTo>
                      <a:pt x="2507707" y="1670819"/>
                    </a:lnTo>
                    <a:cubicBezTo>
                      <a:pt x="2507707" y="1697690"/>
                      <a:pt x="2485924" y="1719473"/>
                      <a:pt x="2459054" y="1719473"/>
                    </a:cubicBezTo>
                    <a:lnTo>
                      <a:pt x="48654" y="1719473"/>
                    </a:lnTo>
                    <a:cubicBezTo>
                      <a:pt x="21783" y="1719473"/>
                      <a:pt x="0" y="1697690"/>
                      <a:pt x="0" y="1670819"/>
                    </a:cubicBezTo>
                    <a:lnTo>
                      <a:pt x="0" y="48654"/>
                    </a:lnTo>
                    <a:cubicBezTo>
                      <a:pt x="0" y="21783"/>
                      <a:pt x="21783" y="0"/>
                      <a:pt x="48654" y="0"/>
                    </a:cubicBezTo>
                    <a:close/>
                  </a:path>
                </a:pathLst>
              </a:custGeom>
              <a:solidFill>
                <a:srgbClr val="7E94B7"/>
              </a:solidFill>
              <a:ln w="666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507707" cy="1757573"/>
              </a:xfrm>
              <a:prstGeom prst="rect">
                <a:avLst/>
              </a:prstGeom>
            </p:spPr>
            <p:txBody>
              <a:bodyPr anchor="ctr" rtlCol="false" tIns="43298" lIns="43298" bIns="43298" rIns="4329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42456" y="0"/>
              <a:ext cx="12742142" cy="4106893"/>
              <a:chOff x="0" y="0"/>
              <a:chExt cx="2379790" cy="76702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79790" cy="767025"/>
              </a:xfrm>
              <a:custGeom>
                <a:avLst/>
                <a:gdLst/>
                <a:ahLst/>
                <a:cxnLst/>
                <a:rect r="r" b="b" t="t" l="l"/>
                <a:pathLst>
                  <a:path h="767025" w="2379790">
                    <a:moveTo>
                      <a:pt x="51269" y="0"/>
                    </a:moveTo>
                    <a:lnTo>
                      <a:pt x="2328521" y="0"/>
                    </a:lnTo>
                    <a:cubicBezTo>
                      <a:pt x="2342118" y="0"/>
                      <a:pt x="2355159" y="5402"/>
                      <a:pt x="2364773" y="15016"/>
                    </a:cubicBezTo>
                    <a:cubicBezTo>
                      <a:pt x="2374388" y="24631"/>
                      <a:pt x="2379790" y="37671"/>
                      <a:pt x="2379790" y="51269"/>
                    </a:cubicBezTo>
                    <a:lnTo>
                      <a:pt x="2379790" y="715756"/>
                    </a:lnTo>
                    <a:cubicBezTo>
                      <a:pt x="2379790" y="744071"/>
                      <a:pt x="2356836" y="767025"/>
                      <a:pt x="2328521" y="767025"/>
                    </a:cubicBezTo>
                    <a:lnTo>
                      <a:pt x="51269" y="767025"/>
                    </a:lnTo>
                    <a:cubicBezTo>
                      <a:pt x="22954" y="767025"/>
                      <a:pt x="0" y="744071"/>
                      <a:pt x="0" y="715756"/>
                    </a:cubicBezTo>
                    <a:lnTo>
                      <a:pt x="0" y="51269"/>
                    </a:lnTo>
                    <a:cubicBezTo>
                      <a:pt x="0" y="22954"/>
                      <a:pt x="22954" y="0"/>
                      <a:pt x="51269" y="0"/>
                    </a:cubicBezTo>
                    <a:close/>
                  </a:path>
                </a:pathLst>
              </a:custGeom>
              <a:solidFill>
                <a:srgbClr val="ED9D9D"/>
              </a:solidFill>
              <a:ln w="666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379790" cy="805125"/>
              </a:xfrm>
              <a:prstGeom prst="rect">
                <a:avLst/>
              </a:prstGeom>
            </p:spPr>
            <p:txBody>
              <a:bodyPr anchor="ctr" rtlCol="false" tIns="43298" lIns="43298" bIns="43298" rIns="4329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995954" y="5134041"/>
              <a:ext cx="11435146" cy="5059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37688" indent="-468844" lvl="1">
                <a:lnSpc>
                  <a:spcPts val="6080"/>
                </a:lnSpc>
                <a:buFont typeface="Arial"/>
                <a:buChar char="•"/>
              </a:pPr>
              <a:r>
                <a:rPr lang="en-US" sz="4343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What is AI?</a:t>
              </a:r>
            </a:p>
            <a:p>
              <a:pPr algn="l" marL="937688" indent="-468844" lvl="1">
                <a:lnSpc>
                  <a:spcPts val="6080"/>
                </a:lnSpc>
                <a:buFont typeface="Arial"/>
                <a:buChar char="•"/>
              </a:pPr>
              <a:r>
                <a:rPr lang="en-US" sz="4343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How does AI learn?</a:t>
              </a:r>
            </a:p>
            <a:p>
              <a:pPr algn="l" marL="937688" indent="-468844" lvl="1">
                <a:lnSpc>
                  <a:spcPts val="6080"/>
                </a:lnSpc>
                <a:buFont typeface="Arial"/>
                <a:buChar char="•"/>
              </a:pPr>
              <a:r>
                <a:rPr lang="en-US" sz="4343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Can AI make mistakes?</a:t>
              </a:r>
            </a:p>
            <a:p>
              <a:pPr algn="l" marL="937688" indent="-468844" lvl="1">
                <a:lnSpc>
                  <a:spcPts val="6080"/>
                </a:lnSpc>
                <a:buFont typeface="Arial"/>
                <a:buChar char="•"/>
              </a:pPr>
              <a:r>
                <a:rPr lang="en-US" sz="4343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How should we use AI responsibly?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53293" y="216658"/>
              <a:ext cx="11720467" cy="33496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47"/>
                </a:lnSpc>
              </a:pPr>
              <a:r>
                <a:rPr lang="en-US" sz="14890">
                  <a:solidFill>
                    <a:srgbClr val="FFFFFF"/>
                  </a:solidFill>
                  <a:latin typeface="Bobby Jones Soft"/>
                  <a:ea typeface="Bobby Jones Soft"/>
                  <a:cs typeface="Bobby Jones Soft"/>
                  <a:sym typeface="Bobby Jones Soft"/>
                </a:rPr>
                <a:t>review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6463" y="2929846"/>
            <a:ext cx="14555073" cy="5668410"/>
            <a:chOff x="0" y="0"/>
            <a:chExt cx="4497661" cy="17515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7661" cy="1751594"/>
            </a:xfrm>
            <a:custGeom>
              <a:avLst/>
              <a:gdLst/>
              <a:ahLst/>
              <a:cxnLst/>
              <a:rect r="r" b="b" t="t" l="l"/>
              <a:pathLst>
                <a:path h="1751594" w="4497661">
                  <a:moveTo>
                    <a:pt x="27127" y="0"/>
                  </a:moveTo>
                  <a:lnTo>
                    <a:pt x="4470534" y="0"/>
                  </a:lnTo>
                  <a:cubicBezTo>
                    <a:pt x="4485515" y="0"/>
                    <a:pt x="4497661" y="12145"/>
                    <a:pt x="4497661" y="27127"/>
                  </a:cubicBezTo>
                  <a:lnTo>
                    <a:pt x="4497661" y="1724467"/>
                  </a:lnTo>
                  <a:cubicBezTo>
                    <a:pt x="4497661" y="1739449"/>
                    <a:pt x="4485515" y="1751594"/>
                    <a:pt x="4470534" y="1751594"/>
                  </a:cubicBezTo>
                  <a:lnTo>
                    <a:pt x="27127" y="1751594"/>
                  </a:lnTo>
                  <a:cubicBezTo>
                    <a:pt x="19933" y="1751594"/>
                    <a:pt x="13033" y="1748736"/>
                    <a:pt x="7945" y="1743649"/>
                  </a:cubicBezTo>
                  <a:cubicBezTo>
                    <a:pt x="2858" y="1738562"/>
                    <a:pt x="0" y="1731662"/>
                    <a:pt x="0" y="1724467"/>
                  </a:cubicBezTo>
                  <a:lnTo>
                    <a:pt x="0" y="27127"/>
                  </a:lnTo>
                  <a:cubicBezTo>
                    <a:pt x="0" y="19933"/>
                    <a:pt x="2858" y="13033"/>
                    <a:pt x="7945" y="7945"/>
                  </a:cubicBezTo>
                  <a:cubicBezTo>
                    <a:pt x="13033" y="2858"/>
                    <a:pt x="19933" y="0"/>
                    <a:pt x="27127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97661" cy="1789694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078662">
            <a:off x="16240667" y="-21538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44776">
            <a:off x="-3464785" y="-2383272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03212" y="1688745"/>
            <a:ext cx="12681576" cy="2482203"/>
            <a:chOff x="0" y="0"/>
            <a:chExt cx="3918731" cy="7670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18731" cy="767025"/>
            </a:xfrm>
            <a:custGeom>
              <a:avLst/>
              <a:gdLst/>
              <a:ahLst/>
              <a:cxnLst/>
              <a:rect r="r" b="b" t="t" l="l"/>
              <a:pathLst>
                <a:path h="767025" w="3918731">
                  <a:moveTo>
                    <a:pt x="31135" y="0"/>
                  </a:moveTo>
                  <a:lnTo>
                    <a:pt x="3887596" y="0"/>
                  </a:lnTo>
                  <a:cubicBezTo>
                    <a:pt x="3895854" y="0"/>
                    <a:pt x="3903773" y="3280"/>
                    <a:pt x="3909612" y="9119"/>
                  </a:cubicBezTo>
                  <a:cubicBezTo>
                    <a:pt x="3915451" y="14958"/>
                    <a:pt x="3918731" y="22877"/>
                    <a:pt x="3918731" y="31135"/>
                  </a:cubicBezTo>
                  <a:lnTo>
                    <a:pt x="3918731" y="735890"/>
                  </a:lnTo>
                  <a:cubicBezTo>
                    <a:pt x="3918731" y="753086"/>
                    <a:pt x="3904792" y="767025"/>
                    <a:pt x="3887596" y="767025"/>
                  </a:cubicBezTo>
                  <a:lnTo>
                    <a:pt x="31135" y="767025"/>
                  </a:lnTo>
                  <a:cubicBezTo>
                    <a:pt x="13940" y="767025"/>
                    <a:pt x="0" y="753086"/>
                    <a:pt x="0" y="735890"/>
                  </a:cubicBezTo>
                  <a:lnTo>
                    <a:pt x="0" y="31135"/>
                  </a:lnTo>
                  <a:cubicBezTo>
                    <a:pt x="0" y="13940"/>
                    <a:pt x="13940" y="0"/>
                    <a:pt x="31135" y="0"/>
                  </a:cubicBezTo>
                  <a:close/>
                </a:path>
              </a:pathLst>
            </a:custGeom>
            <a:solidFill>
              <a:srgbClr val="ED9D9D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918731" cy="805125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050964" y="842849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769298">
            <a:off x="15976057" y="6970274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80936" y="4469696"/>
            <a:ext cx="13526129" cy="35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6"/>
              </a:lnSpc>
            </a:pPr>
            <a:r>
              <a:rPr lang="en-US" sz="410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Create an “AI Around Us” poster. </a:t>
            </a:r>
            <a:r>
              <a:rPr lang="en-US" sz="410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Include:</a:t>
            </a:r>
          </a:p>
          <a:p>
            <a:pPr algn="l" marL="886125" indent="-443062" lvl="1">
              <a:lnSpc>
                <a:spcPts val="5746"/>
              </a:lnSpc>
              <a:buFont typeface="Arial"/>
              <a:buChar char="•"/>
            </a:pPr>
            <a:r>
              <a:rPr lang="en-US" sz="410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Three examples of AI</a:t>
            </a:r>
          </a:p>
          <a:p>
            <a:pPr algn="l" marL="886125" indent="-443062" lvl="1">
              <a:lnSpc>
                <a:spcPts val="5746"/>
              </a:lnSpc>
              <a:buFont typeface="Arial"/>
              <a:buChar char="•"/>
            </a:pPr>
            <a:r>
              <a:rPr lang="en-US" sz="410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How AI helps people</a:t>
            </a:r>
          </a:p>
          <a:p>
            <a:pPr algn="l" marL="886125" indent="-443062" lvl="1">
              <a:lnSpc>
                <a:spcPts val="5746"/>
              </a:lnSpc>
              <a:buFont typeface="Arial"/>
              <a:buChar char="•"/>
            </a:pPr>
            <a:r>
              <a:rPr lang="en-US" sz="410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One limitation of AI</a:t>
            </a:r>
          </a:p>
          <a:p>
            <a:pPr algn="l" marL="886125" indent="-443062" lvl="1">
              <a:lnSpc>
                <a:spcPts val="5746"/>
              </a:lnSpc>
              <a:buFont typeface="Arial"/>
              <a:buChar char="•"/>
            </a:pPr>
            <a:r>
              <a:rPr lang="en-US" sz="410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One rule for responsible use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6275" y="1767777"/>
            <a:ext cx="11635450" cy="197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0"/>
              </a:lnSpc>
            </a:pPr>
            <a:r>
              <a:rPr lang="en-US" sz="1140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Make a poster!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DAHPc5dEpYw</dc:identifier>
  <dcterms:modified xsi:type="dcterms:W3CDTF">2011-08-01T06:04:30Z</dcterms:modified>
  <cp:revision>1</cp:revision>
  <dc:title>Lesson 5: AI Around Us</dc:title>
</cp:coreProperties>
</file>